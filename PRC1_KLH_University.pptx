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9" r:id="rId9"/>
    <p:sldId id="360" r:id="rId10"/>
    <p:sldId id="353" r:id="rId11"/>
    <p:sldId id="354" r:id="rId12"/>
    <p:sldId id="358" r:id="rId13"/>
    <p:sldId id="355" r:id="rId14"/>
    <p:sldId id="356" r:id="rId15"/>
    <p:sldId id="332" r:id="rId16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8"/>
    <p:restoredTop sz="95833"/>
  </p:normalViewPr>
  <p:slideViewPr>
    <p:cSldViewPr snapToGrid="0" snapToObjects="1">
      <p:cViewPr varScale="1">
        <p:scale>
          <a:sx n="59" d="100"/>
          <a:sy n="59" d="100"/>
        </p:scale>
        <p:origin x="8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59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27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22-08-2026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22-08-2026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– 1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CAPSTONE PROJECT – 1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 (PRC-1)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Graph Neural Network Framework for Supply Chain Risk Prediction in Multi-Tier Supply Chain Networks using Big Data Processing Tools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200000"/>
            <a:ext cx="10515600" cy="1250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400" b="1" dirty="0"/>
              <a:t>Team No- 1</a:t>
            </a:r>
          </a:p>
          <a:p>
            <a:pPr marL="0" indent="0" algn="ctr">
              <a:buNone/>
            </a:pPr>
            <a:r>
              <a:rPr lang="en-IN" sz="1400" b="1" dirty="0"/>
              <a:t>Roll No</a:t>
            </a:r>
            <a:r>
              <a:rPr lang="en-IN" sz="1300" b="1" dirty="0"/>
              <a:t>		</a:t>
            </a:r>
            <a:r>
              <a:rPr lang="en-IN" sz="1400" b="1" dirty="0"/>
              <a:t>Name</a:t>
            </a:r>
          </a:p>
          <a:p>
            <a:pPr marL="0" indent="0">
              <a:buNone/>
            </a:pPr>
            <a:r>
              <a:rPr lang="en-IN" sz="1300" b="1" dirty="0"/>
              <a:t>				</a:t>
            </a:r>
            <a:r>
              <a:rPr lang="en-IN" sz="1400" b="1" dirty="0"/>
              <a:t>2320030005	</a:t>
            </a:r>
            <a:r>
              <a:rPr lang="en-IN" sz="1300" b="1" dirty="0"/>
              <a:t>	</a:t>
            </a:r>
            <a:r>
              <a:rPr lang="en-US" sz="1400" b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Vaishnavi Ponnuru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dirty="0"/>
              <a:t>				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2320030017		</a:t>
            </a: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Ria </a:t>
            </a:r>
            <a:r>
              <a:rPr lang="en-US" sz="1400" b="1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Durwas</a:t>
            </a:r>
            <a:endParaRPr lang="en-US" sz="1400" b="1" dirty="0">
              <a:solidFill>
                <a:srgbClr val="222222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				</a:t>
            </a: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2320030023		</a:t>
            </a:r>
            <a:r>
              <a:rPr lang="en-US" sz="1400" b="1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Gareni</a:t>
            </a: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Sai Teja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22-08-2026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550000"/>
            <a:ext cx="10515600" cy="145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Under the Guidance of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N. Shirisha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Associate Professor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13686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158"/>
            <a:ext cx="10515600" cy="500292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multi-tier supply chains generate large volumes of operational data related to product demand, production, factory operations, and delivery performance, with products connected through shared plants, storage facilities, and product groups.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 one product can propagate to related products through these relationships, but conventional analytics treat each product independently, missing this network effect — making graph-based, explainable risk prediction a practically important capability for supply-chain-heavy organizations.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solved: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product-level supply chain risk in a way that reflects real relationships between products, and explaining the prediction to the people who must act on it.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Supply-chain finance lenders/NBFCs (loan and credit decisions for suppliers) and operations/internal audit teams within manufacturing and FMCG organizations (early-warning monitoring and defensible audit reporting).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C34A4E9-B1D7-4F59-982A-7518E005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risk in one product can spread to related products through shared plants, storage, and product groups, but conventional ML treats each product independently and lacks interpretability.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graph-based approach that captures these product relationships, works on continuous operational data, and explains its predictions to decision-makers.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777"/>
            <a:ext cx="2743200" cy="365125"/>
          </a:xfrm>
        </p:spPr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CC9555-106F-46B4-BA3D-25EA6B87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Objectives of the System</a:t>
            </a:r>
          </a:p>
          <a:p>
            <a:pPr marL="3429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a product-centric supply chain graph representing each product as a node, with plant, storage, and product-group relationships as edges, enriched with operational risk features (production efficiency, delivery efficiency, factory issue ratio, sales/production variability).</a:t>
            </a:r>
          </a:p>
          <a:p>
            <a:pPr marL="3429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Graph Convolutional Network (GCN) that classifies products into low-, medium-, and high-risk categories, compared against Random Forest and XGBoost, with GNNExplainer integrated to justify each prediction.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Objectives Toward Its Beneficiaries</a:t>
            </a:r>
          </a:p>
          <a:p>
            <a:pPr marL="3429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supply-chain finance lenders and NBFCs with an explainable, relationship-aware risk score for suppliers, so that a loan or credit-extension decision can be justified with evidence rather than a black-box number.</a:t>
            </a:r>
          </a:p>
          <a:p>
            <a:pPr marL="3429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operations and internal audit teams within manufacturing/FMCG organizations with an early-warning, human-readable risk signal per product, enabling proactive intervention and defensible reporting during audits.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3D0FDF3-DB89-46A2-B389-76810F8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(1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400000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18 papers most relevant to this project, 2020 onwards: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2657"/>
              </p:ext>
            </p:extLst>
          </p:nvPr>
        </p:nvGraphicFramePr>
        <p:xfrm>
          <a:off x="228600" y="1650732"/>
          <a:ext cx="11887195" cy="4850994"/>
        </p:xfrm>
        <a:graphic>
          <a:graphicData uri="http://schemas.openxmlformats.org/drawingml/2006/table">
            <a:tbl>
              <a:tblPr/>
              <a:tblGrid>
                <a:gridCol w="753979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1122946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1010652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94610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1122946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331494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83368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379621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 of the paper 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Wasi, A.T.; Islam, M.D.; Akib, A.R.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 err="1">
                          <a:latin typeface="Calibri"/>
                        </a:rPr>
                        <a:t>SupplyGraph</a:t>
                      </a:r>
                      <a:r>
                        <a:rPr sz="750" b="0" dirty="0">
                          <a:latin typeface="Calibri"/>
                        </a:rPr>
                        <a:t>: A Benchmark Dataset for SC Planning using GNNs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Introduce first public product-graph dataset for SC GNN research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GCN, GraphSAGE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SupplyGraph (FMCG company, Bangladesh)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Sales, production, delivery, factory-issue features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GNNs outperform classical ML/DL by 15-40% on anomaly detection tasks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No explainability layer; single-industry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arXiv:2401.15299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2023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Bin Wu, Kuo-Ming Chao, </a:t>
                      </a:r>
                      <a:r>
                        <a:rPr lang="en-IN" sz="800" dirty="0" err="1"/>
                        <a:t>Yinsheng</a:t>
                      </a:r>
                      <a:r>
                        <a:rPr lang="en-IN" sz="800" dirty="0"/>
                        <a:t> Li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MultiFraud: Heterogeneous GNNs for Fraud Detection in SC Finance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i="1" dirty="0"/>
                        <a:t>Information Systems</a:t>
                      </a:r>
                      <a:r>
                        <a:rPr lang="en-IN" sz="800" dirty="0"/>
                        <a:t> (Elsevier),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Detect and explain fraud in SC finance using heterogeneous GNNs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Heterogeneous GNN, multitask learning, attention explanation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5 proprietary datasets (Ouyeel Inc.)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Fraud prediction accuracy, explanation relevance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Multi-graph modeling improves fraud detection and explainability jointly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Proprietary dataset; finance-only; static graph, no temporal modeling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 dirty="0">
                          <a:latin typeface="Calibri"/>
                        </a:rPr>
                        <a:t>ScienceDirect PII: </a:t>
                      </a:r>
                      <a:r>
                        <a:rPr lang="en-IN" sz="800"/>
                        <a:t>10.1016/j.is.2023.102335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111493"/>
                  </a:ext>
                </a:extLst>
              </a:tr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Kosasih, E.E.; Brintrup, A.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ML Approach for Predicting Hidden Links in Supply Chain with GNNs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International Journal of Production Research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Predict hidden supply chain links via GNN link prediction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 link prediction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Industry-sourced supply chain knowledge graph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Link prediction accuracy / AUC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GNNs effectively predict undisclosed supplier relationships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No explainability layer; proprietary/commercial data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10.1080/00207543.2021.1956697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29784"/>
                  </a:ext>
                </a:extLst>
              </a:tr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Kosasih, E.E.; Margaroli, F.; Gelli, S.; et al.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KG Reasoning for Supply Chain Risk Management using GNNs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International Journal of Production Research, 62(15)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GNN-based KG reasoning to improve SC risk visibility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 knowledge graph reasoning, similarity-based link prediction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Industry supply chain knowledge graph (Achilles Ltd)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Risk/link prediction performance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Knowledge graph reasoning improves visibility into hidden supply chain risk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Commercial/confidential dataset; limited interpretability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10.1080/00207543.2022.2100841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082329"/>
                  </a:ext>
                </a:extLst>
              </a:tr>
              <a:tr h="694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Kosasih, E.E.; Brintrup, A.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Trustworthy AI for Link Prediction in SC KG: Neurosymbolic Approach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International Journal of Production Research, 63(6)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Improve trust/explainability of GNN link prediction via neurosymbolic reasoning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Neurosymbolic reasoning + GNN embeddings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Supply chain knowledge graph (Achilles Ltd, commercial)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Link prediction accuracy + interpretability/reasoning trace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Neurosymbolic reasoning achieves competitive accuracy with added transparency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Commercial, non-public dataset; link prediction only, not fraud/anomaly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10.1080/00207543.2024.2399713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463376"/>
                  </a:ext>
                </a:extLst>
              </a:tr>
              <a:tr h="691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Zhou, Y.; et al.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HKTGNN: Hierarchical Knowledge Transferable GNN for SC Risk Assessment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Simplify multi-tier SC risk assessment using hierarchical GNN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Hierarchical GNN, centrality-based knowledge transfer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Product-centric supply chain graph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Risk classification accuracy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Product-centric hierarchical graphs improve risk assessment over enterprise-level graphs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Limited interpretability; no human-readable explanation output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 dirty="0">
                          <a:latin typeface="Calibri"/>
                        </a:rPr>
                        <a:t>arXiv:2311.04244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22617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01650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(2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400000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18 papers most relevant to this project, 2020 onwards: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45147"/>
              </p:ext>
            </p:extLst>
          </p:nvPr>
        </p:nvGraphicFramePr>
        <p:xfrm>
          <a:off x="1" y="1750000"/>
          <a:ext cx="12192000" cy="4903800"/>
        </p:xfrm>
        <a:graphic>
          <a:graphicData uri="http://schemas.openxmlformats.org/drawingml/2006/table">
            <a:tbl>
              <a:tblPr/>
              <a:tblGrid>
                <a:gridCol w="693752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693752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1033246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929922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575667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693752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15161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1948093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1033246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25136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180854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269419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 of the paper 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Tu, Y.; Li, W.; Song, X.; Gong, K.; Liu, L.; Qin, Y.; Liu, S.; Liu, M.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GNN-Based Supplier Recommendation on Large-Scale Supply Chain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International Journal of Production Research, 62(24)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Recommend alternative suppliers during disruptions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GNN-based recommendation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Large-scale industry supply chain data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Recommendation accuracy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GNN-based supplier recommendation improves disruption resilience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Focused on recommendation, not risk scoring or explainability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10.1080/00207543.2024.2344661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Yang, S.; Ogawa, Y.; Ikeuchi, K.; Shibasaki, R.; Okuma, Y.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Post-Hazard SC Disruption: Predicting Firm Sales Using GNN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International Journal of Disaster Risk Reduction, 110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Predict firm sales after SC disruption using GNN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 for disruption/sales prediction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Firm-level sales and supply chain network data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Sales prediction accuracy post-disruption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 improves post-hazard sales prediction over network-agnostic baselines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Focused on disruption/sales, not fraud or explainability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Article 104664 (Elsevier)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5821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2025/2026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Ying Liu, Shuang Liu, Yu Lu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SC Financial Risk Assessment: Modified GAT (EGATCL)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ScienceDirect (in press)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Assess SC finance credit risk via structural risk-transmission modeling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Enhanced Graph Attention Network + Contrastive Learning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CSMAR database (China)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Credit risk prediction accuracy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Structural GNN modeling captures credit risk transmission better than firm-level models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Firm-level-only prior models neglect network transmission; single-country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ScienceDirect PII: S1544612325015399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714266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Xiaochuan Tang, Yu Wang, Xin Liu, Xiaojun Yuan, Chao Fan, Yanmei Hu, Qiang Miao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Federated GNN for Privacy-Preserved SC Data Sharing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ScienceDirect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Privacy-preserving cross-company SC link prediction via federated GNN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Federated Learning + GCN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Country-level supply chain knowledge graphs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Link prediction accuracy under federated setting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Federated GCN accurately predicts relationships without raw data sharing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Focused on link prediction/privacy, not fraud or risk scoring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ScienceDirect PII: S1568494624012493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14879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 err="1"/>
                        <a:t>Donghun</a:t>
                      </a:r>
                      <a:r>
                        <a:rPr lang="en-IN" sz="800" dirty="0"/>
                        <a:t> Lee, Jimin Go, Taehyun Noh, </a:t>
                      </a:r>
                      <a:r>
                        <a:rPr lang="en-IN" sz="800" dirty="0" err="1"/>
                        <a:t>Seokwoo</a:t>
                      </a:r>
                      <a:r>
                        <a:rPr lang="en-IN" sz="800" dirty="0"/>
                        <a:t> Song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Multi-Feature GAT for Predicting Potential Supply Relationships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ScienceDirect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Predict supplier relationships using semantic + topological features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Graph Attention Networks, multi-feature representation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Large-scale real-world supply chain network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Relationship prediction accuracy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Multi-feature GAT outperforms fixed-aggregation GNN and ML baselines (SVM, RF, k-NN)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Focused on supplier discovery, not risk/fraud explainability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ScienceDirect PII: S0957417425022122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093357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Yuhan Guo, </a:t>
                      </a:r>
                      <a:r>
                        <a:rPr lang="en-IN" sz="800" dirty="0" err="1"/>
                        <a:t>Runsheng</a:t>
                      </a:r>
                      <a:r>
                        <a:rPr lang="en-IN" sz="800" dirty="0"/>
                        <a:t> Chen, Hamid Allaoui, Alok Choudhary, Wenhua Li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Dual Attention GNN for Sustainable SC Optimization under EPC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ScienceDirect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Optimize sustainable SC decisions under EPC using dual-attention GNN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Dual Attention GNN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Simulated energy performance contracting scenarios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Economic performance, emission reduction, operational continuity trade-offs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Dual-attention GNN better navigates multi-objective trade-offs than hybrid heuristics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Focused on sustainability optimization, not fraud/risk explainability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 dirty="0">
                          <a:latin typeface="Calibri"/>
                        </a:rPr>
                        <a:t>ScienceDirect PII: S1366554526000426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105102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(3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400000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papers most relevant to this project, 2020 onwards: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545851"/>
              </p:ext>
            </p:extLst>
          </p:nvPr>
        </p:nvGraphicFramePr>
        <p:xfrm>
          <a:off x="152402" y="1650731"/>
          <a:ext cx="11887195" cy="4666851"/>
        </p:xfrm>
        <a:graphic>
          <a:graphicData uri="http://schemas.openxmlformats.org/drawingml/2006/table">
            <a:tbl>
              <a:tblPr/>
              <a:tblGrid>
                <a:gridCol w="753979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1122946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1010652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94610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753979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1122946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331494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83368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379621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644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 of the paper 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62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2025/2026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Zhiming Xue, </a:t>
                      </a:r>
                      <a:r>
                        <a:rPr lang="en-IN" sz="800" dirty="0" err="1"/>
                        <a:t>Menghao</a:t>
                      </a:r>
                      <a:r>
                        <a:rPr lang="en-IN" sz="800" dirty="0"/>
                        <a:t> Huo, </a:t>
                      </a:r>
                      <a:r>
                        <a:rPr lang="en-IN" sz="800" dirty="0" err="1"/>
                        <a:t>Yujue</a:t>
                      </a:r>
                      <a:r>
                        <a:rPr lang="en-IN" sz="800" dirty="0"/>
                        <a:t> Wang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EAGLE: Edge-Aware Graph Learning for Delivery Delay Prediction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Proactively predict delivery delays in logistics networks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Edge-aware graph learning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Smart logistics network data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Delay prediction accuracy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Edge-aware modeling improves proactive delay prediction over node-only GNN baselines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Focused on delay prediction, not explainability or fraud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arXiv:2604.05254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62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Kenji Nakamura, Laura Schneider</a:t>
                      </a:r>
                      <a:r>
                        <a:rPr sz="750" b="0" dirty="0">
                          <a:latin typeface="Calibri"/>
                        </a:rPr>
                        <a:t>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Heterogeneous Graph Transformers for End-to-End SC Risk Assessment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Innovation and Technology Studies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Multi-source (supplier, climate, market) end-to-end SC risk assessment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Heterogeneous Graph Transformer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Multi-tier supply chain networks with climate and market data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Risk prediction accuracy, cascading risk propagation detection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Outperforms conventional GNNs in multi-tier cascading risk prediction with partial interpretability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Complexity of multi-source integration; interpretability only partial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Not listed (institutional repository)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758253"/>
                  </a:ext>
                </a:extLst>
              </a:tr>
              <a:tr h="62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Wasi, A.T.; Islam, M.D.; Akib, A.R.; Bappy, M.M.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GNNs in Supply Chain Analytics and Optimization: Concepts and Benchmarks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Survey GNN applications in SC and identify under-explored tasks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Survey of GCN/GraphSAGE/GAT applications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SupplyGraph benchmark + review of other datasets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Comparative review of task coverage across GNN supply chain literature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Production planning remains an under-explored task for GNN-based methods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Production planning task gap; lack of standardized benchmarks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arXiv:2411.08550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309110"/>
                  </a:ext>
                </a:extLst>
              </a:tr>
              <a:tr h="8007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Li, X.; et al.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TG-RRNet: SC Risk Perception Network with Temporal + Generative Anomaly Detection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Engineering Reports (Wiley)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Early risk detection via temporal graph learning and generative anomaly detection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Temporal GNN, generative anomaly detection, multimodal cross-attention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Not confirmed public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Risk node detection accuracy vs. snapshot-based classifiers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Temporal and generative modeling surfaces high-risk nodes before disruption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No confirmed public dataset; no per-prediction explanation layer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10.1002/eng2.70606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610486"/>
                  </a:ext>
                </a:extLst>
              </a:tr>
              <a:tr h="62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b="1" dirty="0" err="1"/>
                        <a:t>Kihwan</a:t>
                      </a:r>
                      <a:r>
                        <a:rPr lang="en-IN" sz="800" b="1" dirty="0"/>
                        <a:t> Han</a:t>
                      </a:r>
                      <a:r>
                        <a:rPr lang="en-IN" sz="800" dirty="0"/>
                        <a:t> (single author, Juniper Networks)</a:t>
                      </a:r>
                      <a:r>
                        <a:rPr sz="750" b="0" dirty="0">
                          <a:latin typeface="Calibri"/>
                        </a:rPr>
                        <a:t>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Applying GNN to </a:t>
                      </a:r>
                      <a:r>
                        <a:rPr sz="750" b="0" dirty="0" err="1">
                          <a:latin typeface="Calibri"/>
                        </a:rPr>
                        <a:t>SupplyGraph</a:t>
                      </a:r>
                      <a:r>
                        <a:rPr sz="750" b="0" dirty="0">
                          <a:latin typeface="Calibri"/>
                        </a:rPr>
                        <a:t> for Supply Chain Network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Apply GNN link prediction to </a:t>
                      </a:r>
                      <a:r>
                        <a:rPr sz="750" b="0" dirty="0" err="1">
                          <a:latin typeface="Calibri"/>
                        </a:rPr>
                        <a:t>SupplyGraph</a:t>
                      </a:r>
                      <a:r>
                        <a:rPr sz="750" b="0" dirty="0">
                          <a:latin typeface="Calibri"/>
                        </a:rPr>
                        <a:t> for demand forecasting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GNN-based demand forecasting + link prediction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SupplyGraph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Demand forecasting accuracy with vs. without network structure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 with network structure outperforms ML models ignoring network structure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Single dataset validation; limited exploration of other GNN use cases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>
                          <a:latin typeface="Calibri"/>
                        </a:rPr>
                        <a:t>arXiv:2408.14501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194705"/>
                  </a:ext>
                </a:extLst>
              </a:tr>
              <a:tr h="688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2025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800" dirty="0"/>
                        <a:t>Chi-Sheng Chen (independent researcher), Ying-Jung Chen (Georgia Tech)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 dirty="0">
                          <a:latin typeface="Calibri"/>
                        </a:rPr>
                        <a:t>Optimizing Supply Chain Networks with GNNs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arXiv preprint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Apply GNNs to forecasting, production planning, risk assessment on SupplyGraph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GCN, GraphSAGE across multiple tasks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SupplyGraph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Task-specific accuracy across forecasting/planning/risk assessment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GNNs provide consistent improvements across multiple supply chain analytics tasks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sz="750" b="0">
                          <a:latin typeface="Calibri"/>
                        </a:rPr>
                        <a:t>No dedicated explainability component; single dataset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sz="750" b="0" dirty="0">
                          <a:latin typeface="Calibri"/>
                        </a:rPr>
                        <a:t>arXiv:2501.06221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9000" marB="9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983059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856866"/>
          </a:xfrm>
        </p:spPr>
        <p:txBody>
          <a:bodyPr>
            <a:norm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 analyzes existing literature to identify limitations and unresolved issues, providing the basis for the proposed research work.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V="1">
            <a:off x="838200" y="6721475"/>
            <a:ext cx="2743200" cy="1333954"/>
          </a:xfrm>
        </p:spPr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576043"/>
              </p:ext>
            </p:extLst>
          </p:nvPr>
        </p:nvGraphicFramePr>
        <p:xfrm>
          <a:off x="86627" y="2223436"/>
          <a:ext cx="12029173" cy="408537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401448">
                  <a:extLst>
                    <a:ext uri="{9D8B030D-6E8A-4147-A177-3AD203B41FA5}">
                      <a16:colId xmlns:a16="http://schemas.microsoft.com/office/drawing/2014/main" val="833555039"/>
                    </a:ext>
                  </a:extLst>
                </a:gridCol>
                <a:gridCol w="2537989">
                  <a:extLst>
                    <a:ext uri="{9D8B030D-6E8A-4147-A177-3AD203B41FA5}">
                      <a16:colId xmlns:a16="http://schemas.microsoft.com/office/drawing/2014/main" val="848811906"/>
                    </a:ext>
                  </a:extLst>
                </a:gridCol>
                <a:gridCol w="1854684">
                  <a:extLst>
                    <a:ext uri="{9D8B030D-6E8A-4147-A177-3AD203B41FA5}">
                      <a16:colId xmlns:a16="http://schemas.microsoft.com/office/drawing/2014/main" val="1963808402"/>
                    </a:ext>
                  </a:extLst>
                </a:gridCol>
                <a:gridCol w="3428069">
                  <a:extLst>
                    <a:ext uri="{9D8B030D-6E8A-4147-A177-3AD203B41FA5}">
                      <a16:colId xmlns:a16="http://schemas.microsoft.com/office/drawing/2014/main" val="7160780"/>
                    </a:ext>
                  </a:extLst>
                </a:gridCol>
                <a:gridCol w="1952299">
                  <a:extLst>
                    <a:ext uri="{9D8B030D-6E8A-4147-A177-3AD203B41FA5}">
                      <a16:colId xmlns:a16="http://schemas.microsoft.com/office/drawing/2014/main" val="315075706"/>
                    </a:ext>
                  </a:extLst>
                </a:gridCol>
                <a:gridCol w="1854684">
                  <a:extLst>
                    <a:ext uri="{9D8B030D-6E8A-4147-A177-3AD203B41FA5}">
                      <a16:colId xmlns:a16="http://schemas.microsoft.com/office/drawing/2014/main" val="3069808396"/>
                    </a:ext>
                  </a:extLst>
                </a:gridCol>
              </a:tblGrid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50" b="1" dirty="0" err="1"/>
                        <a:t>S.No.</a:t>
                      </a:r>
                      <a:endParaRPr lang="en-IN" sz="950" b="1" dirty="0" err="1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50" b="1" dirty="0"/>
                        <a:t>Paper Title</a:t>
                      </a:r>
                      <a:endParaRPr lang="en-IN" sz="950" b="1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50" b="1" dirty="0"/>
                        <a:t>Author Name(s)</a:t>
                      </a:r>
                      <a:endParaRPr lang="en-IN" sz="950" b="1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50" b="1" dirty="0"/>
                        <a:t>Methodology / Model Used</a:t>
                      </a:r>
                      <a:endParaRPr lang="en-IN" sz="950" b="1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50" b="1" dirty="0"/>
                        <a:t>Key Findings</a:t>
                      </a:r>
                      <a:endParaRPr lang="en-IN" sz="950" b="1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50" b="1" dirty="0"/>
                        <a:t>Research Gap Identified</a:t>
                      </a:r>
                      <a:endParaRPr lang="en-IN" sz="950" b="1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059430168"/>
                  </a:ext>
                </a:extLst>
              </a:tr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b="0"/>
                        <a:t>1</a:t>
                      </a:r>
                      <a:endParaRPr lang="en-IN" sz="850" b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50" b="0" dirty="0" err="1"/>
                        <a:t>SupplyGraph</a:t>
                      </a:r>
                      <a:r>
                        <a:rPr lang="en-IN" sz="850" b="0" dirty="0"/>
                        <a:t>: A Benchmark Dataset for SC Planning using GNNs (2024)</a:t>
                      </a:r>
                      <a:endParaRPr lang="en-IN" sz="850" b="0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50" b="0" dirty="0"/>
                        <a:t>Wasi, A.T.; Islam, M.D.; Akib, A.R.</a:t>
                      </a:r>
                      <a:endParaRPr lang="en-IN" sz="850" b="0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50" b="0" dirty="0"/>
                        <a:t>GCN / GraphSAGE</a:t>
                      </a:r>
                      <a:endParaRPr lang="en-IN" sz="850" b="0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50" b="0"/>
                        <a:t>First public product-graph dataset; GNNs outperform classical ML by 15-40% on anomaly detection</a:t>
                      </a:r>
                      <a:endParaRPr lang="en-IN" sz="850" b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50" b="0" dirty="0"/>
                        <a:t>No explainability layer; single FMCG company; authors flag interpretability as future work</a:t>
                      </a:r>
                      <a:endParaRPr lang="en-IN" sz="850" b="0" dirty="0">
                        <a:latin typeface="Calibri"/>
                      </a:endParaRP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020118778"/>
                  </a:ext>
                </a:extLst>
              </a:tr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 b="0"/>
                        <a:t>2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 err="1"/>
                        <a:t>MultiFraud</a:t>
                      </a:r>
                      <a:r>
                        <a:rPr sz="850" b="0" dirty="0"/>
                        <a:t>: Heterogeneous GNNs for Fraud Detection in SC Finance (2023)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dirty="0"/>
                        <a:t>Bin Wu, Kuo-Ming Chao, </a:t>
                      </a:r>
                      <a:r>
                        <a:rPr lang="en-IN" sz="900" dirty="0" err="1"/>
                        <a:t>Yinsheng</a:t>
                      </a:r>
                      <a:r>
                        <a:rPr lang="en-IN" sz="900" dirty="0"/>
                        <a:t> Li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Heterogeneous GNN + attention explanation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Multi-graph modeling improves fraud detection and explainability jointly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/>
                        <a:t>Proprietary dataset; finance-only; static graph, no temporal modeling</a:t>
                      </a:r>
                      <a:endParaRPr lang="en-IN" sz="150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85268322"/>
                  </a:ext>
                </a:extLst>
              </a:tr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 b="0"/>
                        <a:t>3</a:t>
                      </a:r>
                      <a:endParaRPr lang="en-IN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Fraud Detection in SC Transactions using ML and Behavioral Analytics (ICSIT, 2025)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ICSIT 2025 Proceedings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Logistic Regression, Random Forest, </a:t>
                      </a:r>
                      <a:r>
                        <a:rPr sz="850" b="0" dirty="0" err="1"/>
                        <a:t>XGBoost</a:t>
                      </a:r>
                      <a:r>
                        <a:rPr sz="850" b="0" dirty="0"/>
                        <a:t>, GNN + 48 behavioral features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Behavioral-feature-enriched </a:t>
                      </a:r>
                      <a:r>
                        <a:rPr sz="850" b="0" dirty="0" err="1"/>
                        <a:t>GNNoutperforms</a:t>
                      </a:r>
                      <a:r>
                        <a:rPr sz="850" b="0" dirty="0"/>
                        <a:t> tabular ML baselines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/>
                        <a:t>Proprietary dataset; no explainability layer; batch/offline evaluation only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16177523"/>
                  </a:ext>
                </a:extLst>
              </a:tr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 b="0"/>
                        <a:t>4</a:t>
                      </a:r>
                      <a:endParaRPr lang="en-IN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TG-</a:t>
                      </a:r>
                      <a:r>
                        <a:rPr sz="850" b="0" dirty="0" err="1"/>
                        <a:t>RRNet</a:t>
                      </a:r>
                      <a:r>
                        <a:rPr sz="850" b="0" dirty="0"/>
                        <a:t>: SC Risk Perception Network with Temporal + Generative Anomaly Detection (2026)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Li, X.; et al.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/>
                        <a:t>Temporal GNN + generative anomaly detection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/>
                        <a:t>Temporal and generative modeling surfaces high-risk nodes before disruption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/>
                        <a:t>No confirmed public dataset; no per-prediction explanation layer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864071143"/>
                  </a:ext>
                </a:extLst>
              </a:tr>
              <a:tr h="68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 b="0"/>
                        <a:t>5</a:t>
                      </a:r>
                      <a:endParaRPr lang="en-IN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HKTGNN: Hierarchical Knowledge Transferable GNN for SC Risk Assessment (2023)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Zhou, Y.; et al.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Hierarchical GNN, centrality-based knowledge transfer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Product-centric hierarchical graphs improve risk assessment over enterprise-level graphs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dirty="0"/>
                        <a:t>Limited interpretability of predictions; no human-readable explanation output</a:t>
                      </a:r>
                      <a:endParaRPr lang="en-IN" sz="150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493651099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A2691C9-D5FC-4B5D-BC2B-27DFE11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968343"/>
            <a:ext cx="4114800" cy="18406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21.08.2026		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EFC2A6-D5E1-4B0E-EBA1-4D4D15920815}"/>
              </a:ext>
            </a:extLst>
          </p:cNvPr>
          <p:cNvSpPr txBox="1"/>
          <p:nvPr/>
        </p:nvSpPr>
        <p:spPr>
          <a:xfrm>
            <a:off x="600616" y="1250731"/>
            <a:ext cx="1084027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a publicly reproducible product-graph dataset (SupplyGraph), a genuine perturbation-based explainability layer (GNNExplainer), and a big-data processing design (PySpark) in one product-level risk-prediction framework — a combination absent from all 18 papers reviewed.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Composite, multi-signal risk scoring derived from six engineered behavioral indicators (production/delivery efficiency, factory issue ratio, sales and production variability, operational gaps), combined with a heterogeneous product-centric graph (plant, storage, product-group relations) rather than a single homogeneous graph or a single risk metric.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research gap that no existing GNN-based supply chain paper combines public reproducibility, genuine per-prediction explainability, and a scalable big-data architecture together — while remaining extensible to real beneficiaries such as supply-chain finance lenders and internal audit teams.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44AC3EB-3F86-4AA5-854B-7AEEB8EE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D0C162-AAFF-57D0-C6FC-922499511FB9}"/>
              </a:ext>
            </a:extLst>
          </p:cNvPr>
          <p:cNvSpPr txBox="1"/>
          <p:nvPr/>
        </p:nvSpPr>
        <p:spPr>
          <a:xfrm>
            <a:off x="994611" y="2009408"/>
            <a:ext cx="9224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uses fully public dataset </a:t>
            </a:r>
            <a:r>
              <a:rPr lang="en-IN" dirty="0" err="1"/>
              <a:t>SupplyGraph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open-source tools (PyTorch Geometric, PySpark, Scikit-learn, GNNExplainer), and a team of 3 members across a 12-week academic calendar — all resources required are freely accessible, making the project technically and operationally feasible within the available timeline.</a:t>
            </a:r>
          </a:p>
          <a:p>
            <a:pPr algn="just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timeline below follows the official PRC review calendar.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5505740-31D0-4B8F-B93F-9E8CA50A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252053"/>
              </p:ext>
            </p:extLst>
          </p:nvPr>
        </p:nvGraphicFramePr>
        <p:xfrm>
          <a:off x="457200" y="3936733"/>
          <a:ext cx="10994571" cy="2506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4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7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B2A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Our Team's Focus</a:t>
                      </a:r>
                    </a:p>
                  </a:txBody>
                  <a:tcPr>
                    <a:solidFill>
                      <a:srgbClr val="1B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17-21 Aug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Finalize dataset and feasibility study; prepare PRC-1 submission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22 Aug 2026 (Sat)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 Review by HOD, Coordinator, Panel Member, and Guide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23 Aug - 4 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Guide reviews: 29 Aug, 5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Data cleaning, feature engineering, product-graph 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12 Sep 2026 (Sat)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PRC-II Review - baseline models and GCN design presented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13 Sep - 9 Oct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latin typeface="Calibri"/>
                        </a:rPr>
                        <a:t>Guide reviews: 19, 26 Sep, 3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GCN training, tuning, GNNExplainer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10 Oct 2026 (Sat)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PRC-III Review - final results and explainability demonstration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11-30 Oct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Guide monitoring: 17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Final evaluation, PySpark scalability demo, report and paper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31 Oct 2026 (Sat)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Project report, GitHub repository, demo video, and PPT to guides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59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3-5 Nov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Calibri"/>
                        </a:rPr>
                        <a:t>Project Expo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latin typeface="Calibri"/>
                        </a:rPr>
                        <a:t>Project Expo organized by Project Coordinator and Cohort 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explainable Graph Neural Network framework for product-level supply chain risk prediction, modeling products and their plant/storage/product-group relationships as a heterogeneous graph, engineering six behavioral risk indicators, and training a GCN benchmarked against Random Forest and XGBoost.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reviewed 18 papers from 2020 onwards, and found a clear gap — none of them bring together a reproducible dataset, real explainability at the individual prediction level, and a scalable, big-data-ready design. That's exactly the space this project fills, and it's directly relevant to supply-chain lenders and audit teams.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for PRC-2: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product-graph construction on the SupplyGraph dataset, train and evaluate baseline models (Random Forest, XGBoost) alongside the GCN, and present initial risk-classification results.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31941C-C503-4469-8755-454FE60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Referenced: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Wasi, A. T., Islam, M. D., &amp; Akib, A. R. (2024). SupplyGraph: A benchmark dataset for supply chain planning using graph neural networks. arXiv:2401.15299.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/>
              <a:t>Bin Wu, Kuo-Ming Chao, </a:t>
            </a:r>
            <a:r>
              <a:rPr lang="en-IN" sz="1400" dirty="0" err="1"/>
              <a:t>Yinsheng</a:t>
            </a:r>
            <a:r>
              <a:rPr lang="en-IN" sz="1400" dirty="0"/>
              <a:t> 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 MultiFraud: Heterogeneous graph neural networks for fraud detection and explanation in supply chain finance. </a:t>
            </a:r>
            <a:r>
              <a:rPr lang="en-IN" sz="1400" i="1" dirty="0"/>
              <a:t>Information Systems</a:t>
            </a:r>
            <a:r>
              <a:rPr lang="en-IN" sz="1400" dirty="0"/>
              <a:t> (Elsevier)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Kosasih, E. E., &amp; Brintrup, A. (2022). A machine learning approach for predicting hidden links in supply chain with graph neural networks. International Journal of Production Research. https://doi.org/10.1080/00207543.2021.1956697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Kosasih, E. E., Margaroli, F., Gelli, S., et al. (2024). Towards knowledge graph reasoning for supply chain risk management using graph neural networks. International Journal of Production Research, 62(15), 5596-5612. https://doi.org/10.1080/00207543.2022.2100841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Kosasih, E. E., &amp; Brintrup, A. (2024). Towards trustworthy AI for link prediction in supply chain knowledge graph: A neurosymbolic reasoning approach. International Journal of Production Research, 63(6), 2268-2290. https://doi.org/10.1080/00207543.2024.2399713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Zhou, Y., et al. (2023). HKTGNN: Hierarchical knowledge transferable graph neural network-based supply chain risk assessment. arXiv:2311.04244.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X., et al. (2026). TG-RRNet: A supply chain risk perception network integrating temporal modeling and generative anomaly detection. Engineering Reports (Wiley). https://doi.org/10.1002/eng2.70606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papers: full 18-paper list with DOIs provided in the Literature Survey slides (1-3 of 3).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Tools: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SupplyGraph dataset (Kaggle): kaggle.com/datasets/azminetoushikwasi/supplygraph-supply-chain-planning-using-gnns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SupplyGraph GitHub repository: github.com/CIOL-SUST/SupplyGraph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Geometric documentation: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GCN model and </a:t>
            </a:r>
            <a:r>
              <a:rPr lang="en-US" sz="14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GNNExplainer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PySpark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- Scalable big-data processing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NetworkX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-Graph prototyping and sanity checks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22C802-FAC0-4996-9438-F4455D7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0A2BD5-B048-435C-9BAE-2FCD927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3256</Words>
  <Application>Microsoft Office PowerPoint</Application>
  <PresentationFormat>Widescreen</PresentationFormat>
  <Paragraphs>453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 Project Review-1 (PRC-1)  Explainable Graph Neural Network Framework for Supply Chain Risk Prediction in Multi-Tier Supply Chain Networks using Big Data Processing Tools</vt:lpstr>
      <vt:lpstr>OUTLINE</vt:lpstr>
      <vt:lpstr>Introduction</vt:lpstr>
      <vt:lpstr>Problem Statement</vt:lpstr>
      <vt:lpstr>Objectives </vt:lpstr>
      <vt:lpstr>Literature Survey (1 of 3)</vt:lpstr>
      <vt:lpstr>Literature Survey (2 of 3)</vt:lpstr>
      <vt:lpstr>Literature Survey (3 of 3)</vt:lpstr>
      <vt:lpstr>Research Gap Identification</vt:lpstr>
      <vt:lpstr>Innovation, Creativity, and Novelty</vt:lpstr>
      <vt:lpstr>Feasibility and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Sai Teja</cp:lastModifiedBy>
  <cp:revision>202</cp:revision>
  <cp:lastPrinted>2025-06-24T13:51:00Z</cp:lastPrinted>
  <dcterms:created xsi:type="dcterms:W3CDTF">2022-05-20T10:20:00Z</dcterms:created>
  <dcterms:modified xsi:type="dcterms:W3CDTF">2026-08-22T08:26:22Z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