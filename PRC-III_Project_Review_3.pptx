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338" r:id="rId3"/>
    <p:sldId id="322" r:id="rId4"/>
    <p:sldId id="351" r:id="rId5"/>
    <p:sldId id="357" r:id="rId6"/>
    <p:sldId id="350" r:id="rId7"/>
    <p:sldId id="352" r:id="rId8"/>
    <p:sldId id="365" r:id="rId9"/>
    <p:sldId id="364" r:id="rId10"/>
    <p:sldId id="353" r:id="rId11"/>
    <p:sldId id="358" r:id="rId12"/>
    <p:sldId id="359" r:id="rId13"/>
    <p:sldId id="360" r:id="rId14"/>
    <p:sldId id="361" r:id="rId15"/>
    <p:sldId id="363" r:id="rId16"/>
    <p:sldId id="362" r:id="rId17"/>
    <p:sldId id="355" r:id="rId18"/>
    <p:sldId id="356" r:id="rId19"/>
    <p:sldId id="332" r:id="rId20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58"/>
    <p:restoredTop sz="95833"/>
  </p:normalViewPr>
  <p:slideViewPr>
    <p:cSldViewPr snapToGrid="0" snapToObjects="1">
      <p:cViewPr varScale="1">
        <p:scale>
          <a:sx n="59" d="100"/>
          <a:sy n="59" d="100"/>
        </p:scale>
        <p:origin x="8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6171" cy="4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3C1E-4760-4B13-A313-772D69312A6F}" type="datetime1">
              <a:rPr lang="en-IN" smtClean="0"/>
              <a:t>31-10-2026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7E64-7E5E-4883-84C7-80A169BEDEBF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97C2-8629-4009-9D8F-065215E8A2D0}" type="datetime1">
              <a:rPr lang="en-IN" smtClean="0"/>
              <a:t>31-10-2026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5ED65-94D6-46FF-BE75-DC20E2B2D2AF}" type="datetime1">
              <a:rPr lang="en-IN" smtClean="0"/>
              <a:t>31-10-2026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BE3D-3F8E-4F7B-9908-2D0BBEE13C7B}" type="datetime1">
              <a:rPr lang="en-IN" smtClean="0"/>
              <a:t>31-10-2026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A7E4-F908-49A5-9A83-DA31ABF6699E}" type="datetime1">
              <a:rPr lang="en-IN" smtClean="0"/>
              <a:t>31-10-2026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EA32-ACB7-4FDE-A0FF-806ECC906A93}" type="datetime1">
              <a:rPr lang="en-IN" smtClean="0"/>
              <a:t>31-10-2026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D6603-A2BE-4D5A-A9C6-A13616FF9966}" type="datetime1">
              <a:rPr lang="en-IN" smtClean="0"/>
              <a:t>31-10-2026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AC70-F7C8-4F73-ABA9-AA264ADAC8CA}" type="datetime1">
              <a:rPr lang="en-IN" smtClean="0"/>
              <a:t>31-10-2026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BCF0-5B1A-4637-B199-FE2210DF1151}" type="datetime1">
              <a:rPr lang="en-IN" smtClean="0"/>
              <a:t>31-10-2026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2637-6996-44E0-B0FC-B8BE73D9F3D2}" type="datetime1">
              <a:rPr lang="en-IN" smtClean="0"/>
              <a:t>31-10-2026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2A17-25D4-4D68-A64C-1C937C480D13}" type="datetime1">
              <a:rPr lang="en-IN" smtClean="0"/>
              <a:t>31-10-2026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861B-7878-4376-9D17-464C25759B7C}" type="datetime1">
              <a:rPr lang="en-IN" smtClean="0"/>
              <a:t>31-10-2026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67D8-CD00-488F-86A9-0A0E9BB7BDA3}" type="datetime1">
              <a:rPr lang="en-IN" smtClean="0"/>
              <a:t>31-10-2026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F776-F5FE-47CD-89CB-E073C0E08A38}" type="datetime1">
              <a:rPr lang="en-IN" smtClean="0"/>
              <a:t>31-10-2026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89B5-1312-4490-893D-E156F7E52976}" type="datetime1">
              <a:rPr lang="en-IN" smtClean="0"/>
              <a:t>31-10-2026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485CE-0247-4A78-8C1E-62FB948BD388}" type="datetime1">
              <a:rPr lang="en-IN" smtClean="0"/>
              <a:t>31-10-2026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PRC-III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EE515-FFD7-493F-92B2-C278C66A56C1}" type="datetime1">
              <a:rPr lang="en-IN" smtClean="0"/>
              <a:t>31-10-2026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PRC-III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9" y="595713"/>
            <a:ext cx="10515600" cy="110082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CAPSTONE PROJECT – 1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Review-3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Graph Neural Network Framework for Supply Chain Risk Prediction in Multi-Tier Supply Chain Networks using Big Data Processing</a:t>
            </a:r>
            <a:endParaRPr lang="en-US" alt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2247" y="2331720"/>
            <a:ext cx="10515600" cy="109755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>
                <a:latin typeface="Times New Roman"/>
                <a:cs typeface="Times New Roman"/>
              </a:rPr>
              <a:t>Team No- 1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Times New Roman"/>
                <a:cs typeface="Times New Roman"/>
              </a:rPr>
              <a:t>Roll No – Name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cs typeface="Times New Roman"/>
              </a:rPr>
              <a:t>2320030005 – Vaishnavi Ponnuru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cs typeface="Times New Roman"/>
              </a:rPr>
              <a:t>2320030017 – Ria Durwas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cs typeface="Times New Roman"/>
              </a:rPr>
              <a:t>2320030023 – Gareni Sai Teja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BDF7-D161-4044-949A-F3285B7B41BD}" type="datetime1">
              <a:rPr lang="en-IN" smtClean="0"/>
              <a:t>31-10-2026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61417" y="3749039"/>
            <a:ext cx="105156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0B050"/>
                </a:solidFill>
              </a:rPr>
              <a:t>Under the Guidance of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B050"/>
                </a:solidFill>
              </a:rPr>
              <a:t>Dr. N. Shirisha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B050"/>
                </a:solidFill>
              </a:rPr>
              <a:t>Associate Professor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95" y="5136862"/>
            <a:ext cx="2175809" cy="897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478DC-6F09-1907-FF9D-C128951B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Introduction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Problem Statement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Objectives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Literature Survey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Research Gap Identification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Existing Method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Proposed Method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System Architecture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Results &amp; Discussion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200">
                <a:latin typeface="Times New Roman"/>
                <a:cs typeface="Times New Roman"/>
              </a:rPr>
              <a:t>Conclusion and References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37FC9-08CB-4978-A3AB-DC0061179CDE}" type="datetime1">
              <a:rPr lang="en-IN" smtClean="0"/>
              <a:t>31-10-2026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158"/>
            <a:ext cx="10515600" cy="5002923"/>
          </a:xfrm>
        </p:spPr>
        <p:txBody>
          <a:bodyPr>
            <a:no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>
                <a:latin typeface="Times New Roman"/>
                <a:cs typeface="Times New Roman"/>
              </a:rPr>
              <a:t>Background: </a:t>
            </a:r>
            <a:r>
              <a:rPr lang="en-US" sz="2000">
                <a:latin typeface="Times New Roman"/>
                <a:cs typeface="Times New Roman"/>
              </a:rPr>
              <a:t>Modern multi-tier supply chains generate large volumes of data on demand, production, factory operations and deliveries, and products are linked through shared plants, storage locations and product groups.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>
                <a:latin typeface="Times New Roman"/>
                <a:cs typeface="Times New Roman"/>
              </a:rPr>
              <a:t>Importance: </a:t>
            </a:r>
            <a:r>
              <a:rPr lang="en-US" sz="2000">
                <a:latin typeface="Times New Roman"/>
                <a:cs typeface="Times New Roman"/>
              </a:rPr>
              <a:t>Risk in one product can spread to related products, but conventional analytics treat every product independently. Graph-based, explainable risk prediction enables early warning and defensible decisions.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>
                <a:latin typeface="Times New Roman"/>
                <a:cs typeface="Times New Roman"/>
              </a:rPr>
              <a:t>Problem being solved: </a:t>
            </a:r>
            <a:r>
              <a:rPr lang="en-US" sz="2000">
                <a:latin typeface="Times New Roman"/>
                <a:cs typeface="Times New Roman"/>
              </a:rPr>
              <a:t>Predicting future product-level supply chain risk in a way that reflects real relationships between products, and explaining each prediction to the people who must act on it.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>
                <a:latin typeface="Times New Roman"/>
                <a:cs typeface="Times New Roman"/>
              </a:rPr>
              <a:t>Application: </a:t>
            </a:r>
            <a:r>
              <a:rPr lang="en-US" sz="2000">
                <a:latin typeface="Times New Roman"/>
                <a:cs typeface="Times New Roman"/>
              </a:rPr>
              <a:t>Supply-chain finance lenders and NBFCs (supplier credit decisions) and operations / internal audit teams in manufacturing and FMCG organisations (early-warning monitoring, audit reporting, inventory planning).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41CE-55A7-45CF-8D1A-DF0FACBD4333}" type="datetime1">
              <a:rPr lang="en-IN" smtClean="0"/>
              <a:t>31-10-2026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C34A4E9-B1D7-4F59-982A-7518E005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4174-E81B-4768-8B99-C41881EF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4203-8F93-4071-A37C-6A9C3BB1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>
                <a:latin typeface="Times New Roman"/>
                <a:cs typeface="Times New Roman"/>
              </a:rPr>
              <a:t>Supply chain risk in one product can spread to related products through shared plants, storage locations and product groups, but conventional machine-learning models treat every product as an </a:t>
            </a:r>
            <a:r>
              <a:rPr lang="en-US" sz="2200" b="1">
                <a:latin typeface="Times New Roman"/>
                <a:cs typeface="Times New Roman"/>
              </a:rPr>
              <a:t>independent record</a:t>
            </a:r>
            <a:r>
              <a:rPr lang="en-US" sz="2200">
                <a:latin typeface="Times New Roman"/>
                <a:cs typeface="Times New Roman"/>
              </a:rPr>
              <a:t> and offer little interpretability.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>
                <a:latin typeface="Times New Roman"/>
                <a:cs typeface="Times New Roman"/>
              </a:rPr>
              <a:t>Existing graph-based supply chain studies rarely combine a </a:t>
            </a:r>
            <a:r>
              <a:rPr lang="en-US" sz="2200" b="1">
                <a:latin typeface="Times New Roman"/>
                <a:cs typeface="Times New Roman"/>
              </a:rPr>
              <a:t>public, reproducible dataset</a:t>
            </a:r>
            <a:r>
              <a:rPr lang="en-US" sz="2200">
                <a:latin typeface="Times New Roman"/>
                <a:cs typeface="Times New Roman"/>
              </a:rPr>
              <a:t>, </a:t>
            </a:r>
            <a:r>
              <a:rPr lang="en-US" sz="2200" b="1">
                <a:latin typeface="Times New Roman"/>
                <a:cs typeface="Times New Roman"/>
              </a:rPr>
              <a:t>per-prediction explanations</a:t>
            </a:r>
            <a:r>
              <a:rPr lang="en-US" sz="2200">
                <a:latin typeface="Times New Roman"/>
                <a:cs typeface="Times New Roman"/>
              </a:rPr>
              <a:t> and a </a:t>
            </a:r>
            <a:r>
              <a:rPr lang="en-US" sz="2200" b="1">
                <a:latin typeface="Times New Roman"/>
                <a:cs typeface="Times New Roman"/>
              </a:rPr>
              <a:t>scalable big-data pipeline</a:t>
            </a:r>
            <a:r>
              <a:rPr lang="en-US" sz="2200">
                <a:latin typeface="Times New Roman"/>
                <a:cs typeface="Times New Roman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>
                <a:latin typeface="Times New Roman"/>
                <a:cs typeface="Times New Roman"/>
              </a:rPr>
              <a:t>There is therefore a need for an </a:t>
            </a:r>
            <a:r>
              <a:rPr lang="en-US" sz="2200" b="1">
                <a:latin typeface="Times New Roman"/>
                <a:cs typeface="Times New Roman"/>
              </a:rPr>
              <a:t>explainable, graph-based approach</a:t>
            </a:r>
            <a:r>
              <a:rPr lang="en-US" sz="2200">
                <a:latin typeface="Times New Roman"/>
                <a:cs typeface="Times New Roman"/>
              </a:rPr>
              <a:t> that predicts future product-level risk from operational data and justifies each prediction in plain language.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5FB1-B28D-4C1B-A7FA-1B6AE4E2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5777"/>
            <a:ext cx="2743200" cy="365125"/>
          </a:xfrm>
        </p:spPr>
        <p:txBody>
          <a:bodyPr/>
          <a:lstStyle/>
          <a:p>
            <a:fld id="{8E32225D-FCEB-4D72-AFBB-4D1CCC2410E3}" type="datetime1">
              <a:rPr lang="en-IN" smtClean="0"/>
              <a:t>31-10-2026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9634-64A3-451F-B3E1-F9F54FC1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D9CC9555-106F-46B4-BA3D-25EA6B87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19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>
                <a:latin typeface="Times New Roman"/>
                <a:cs typeface="Times New Roman"/>
              </a:rPr>
              <a:t>Integrate data: </a:t>
            </a:r>
            <a:r>
              <a:rPr lang="en-US" sz="1900">
                <a:latin typeface="Times New Roman"/>
                <a:cs typeface="Times New Roman"/>
              </a:rPr>
              <a:t>combine 8 temporal tables (sales, production, factory issues, delivery) and 4 relation files of SupplyGraph into one 9,061-row product-level dataset using PySpark.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>
                <a:latin typeface="Times New Roman"/>
                <a:cs typeface="Times New Roman"/>
              </a:rPr>
              <a:t>Build the graph: </a:t>
            </a:r>
            <a:r>
              <a:rPr lang="en-US" sz="1900">
                <a:latin typeface="Times New Roman"/>
                <a:cs typeface="Times New Roman"/>
              </a:rPr>
              <a:t>construct a product-centric graph of 40 product nodes and 4,933 plant, storage, product-group and sub-group edges with leak-free features (28-day window, 33 features).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>
                <a:latin typeface="Times New Roman"/>
                <a:cs typeface="Times New Roman"/>
              </a:rPr>
              <a:t>Define risk: </a:t>
            </a:r>
            <a:r>
              <a:rPr lang="en-US" sz="1900">
                <a:latin typeface="Times New Roman"/>
                <a:cs typeface="Times New Roman"/>
              </a:rPr>
              <a:t>derive a composite risk index from six operational indicators and classify products as Low, Medium or High using 14-day-ahead outcomes.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>
                <a:latin typeface="Times New Roman"/>
                <a:cs typeface="Times New Roman"/>
              </a:rPr>
              <a:t>Predict and benchmark: </a:t>
            </a:r>
            <a:r>
              <a:rPr lang="en-US" sz="1900">
                <a:latin typeface="Times New Roman"/>
                <a:cs typeface="Times New Roman"/>
              </a:rPr>
              <a:t>train a GCN (PyTorch Geometric) and compare it with Random Forest, XGBoost and a no-graph network on accuracy, precision, recall and F1-score.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>
                <a:latin typeface="Times New Roman"/>
                <a:cs typeface="Times New Roman"/>
              </a:rPr>
              <a:t>Explain: </a:t>
            </a:r>
            <a:r>
              <a:rPr lang="en-US" sz="1900">
                <a:latin typeface="Times New Roman"/>
                <a:cs typeface="Times New Roman"/>
              </a:rPr>
              <a:t>use GNNExplainer to give human-readable reasons per prediction and verify their stability and fidelity.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5DBE-88BA-4643-ADE9-8560EBBA6329}" type="datetime1">
              <a:rPr lang="en-IN" smtClean="0"/>
              <a:t>31-10-2026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53D0FDF3-DB89-46A2-B389-76810F8C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(1 of 3)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115568"/>
            <a:ext cx="10515600" cy="36576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cs typeface="Times New Roman"/>
              </a:rPr>
              <a:t>18 papers most relevant to this project (2020 onwards).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DFF1-A285-4E4A-BDEB-6217B7EFB245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87444"/>
              </p:ext>
            </p:extLst>
          </p:nvPr>
        </p:nvGraphicFramePr>
        <p:xfrm>
          <a:off x="384048" y="1508760"/>
          <a:ext cx="11429994" cy="2880360"/>
        </p:xfrm>
        <a:graphic>
          <a:graphicData uri="http://schemas.openxmlformats.org/drawingml/2006/table">
            <a:tbl>
              <a:tblPr/>
              <a:tblGrid>
                <a:gridCol w="321325">
                  <a:extLst>
                    <a:ext uri="{9D8B030D-6E8A-4147-A177-3AD203B41FA5}">
                      <a16:colId xmlns:a16="http://schemas.microsoft.com/office/drawing/2014/main" val="2320967467"/>
                    </a:ext>
                  </a:extLst>
                </a:gridCol>
                <a:gridCol w="459036">
                  <a:extLst>
                    <a:ext uri="{9D8B030D-6E8A-4147-A177-3AD203B41FA5}">
                      <a16:colId xmlns:a16="http://schemas.microsoft.com/office/drawing/2014/main" val="1773147566"/>
                    </a:ext>
                  </a:extLst>
                </a:gridCol>
                <a:gridCol w="963975">
                  <a:extLst>
                    <a:ext uri="{9D8B030D-6E8A-4147-A177-3AD203B41FA5}">
                      <a16:colId xmlns:a16="http://schemas.microsoft.com/office/drawing/2014/main" val="3614679244"/>
                    </a:ext>
                  </a:extLst>
                </a:gridCol>
                <a:gridCol w="1239397">
                  <a:extLst>
                    <a:ext uri="{9D8B030D-6E8A-4147-A177-3AD203B41FA5}">
                      <a16:colId xmlns:a16="http://schemas.microsoft.com/office/drawing/2014/main" val="1867444956"/>
                    </a:ext>
                  </a:extLst>
                </a:gridCol>
                <a:gridCol w="872168">
                  <a:extLst>
                    <a:ext uri="{9D8B030D-6E8A-4147-A177-3AD203B41FA5}">
                      <a16:colId xmlns:a16="http://schemas.microsoft.com/office/drawing/2014/main" val="2466615718"/>
                    </a:ext>
                  </a:extLst>
                </a:gridCol>
                <a:gridCol w="1147590">
                  <a:extLst>
                    <a:ext uri="{9D8B030D-6E8A-4147-A177-3AD203B41FA5}">
                      <a16:colId xmlns:a16="http://schemas.microsoft.com/office/drawing/2014/main" val="3131005202"/>
                    </a:ext>
                  </a:extLst>
                </a:gridCol>
                <a:gridCol w="918072">
                  <a:extLst>
                    <a:ext uri="{9D8B030D-6E8A-4147-A177-3AD203B41FA5}">
                      <a16:colId xmlns:a16="http://schemas.microsoft.com/office/drawing/2014/main" val="2820496137"/>
                    </a:ext>
                  </a:extLst>
                </a:gridCol>
                <a:gridCol w="918072">
                  <a:extLst>
                    <a:ext uri="{9D8B030D-6E8A-4147-A177-3AD203B41FA5}">
                      <a16:colId xmlns:a16="http://schemas.microsoft.com/office/drawing/2014/main" val="3963344226"/>
                    </a:ext>
                  </a:extLst>
                </a:gridCol>
                <a:gridCol w="872168">
                  <a:extLst>
                    <a:ext uri="{9D8B030D-6E8A-4147-A177-3AD203B41FA5}">
                      <a16:colId xmlns:a16="http://schemas.microsoft.com/office/drawing/2014/main" val="824182350"/>
                    </a:ext>
                  </a:extLst>
                </a:gridCol>
                <a:gridCol w="1285301">
                  <a:extLst>
                    <a:ext uri="{9D8B030D-6E8A-4147-A177-3AD203B41FA5}">
                      <a16:colId xmlns:a16="http://schemas.microsoft.com/office/drawing/2014/main" val="523834847"/>
                    </a:ext>
                  </a:extLst>
                </a:gridCol>
                <a:gridCol w="1239397">
                  <a:extLst>
                    <a:ext uri="{9D8B030D-6E8A-4147-A177-3AD203B41FA5}">
                      <a16:colId xmlns:a16="http://schemas.microsoft.com/office/drawing/2014/main" val="1021730221"/>
                    </a:ext>
                  </a:extLst>
                </a:gridCol>
                <a:gridCol w="1193493">
                  <a:extLst>
                    <a:ext uri="{9D8B030D-6E8A-4147-A177-3AD203B41FA5}">
                      <a16:colId xmlns:a16="http://schemas.microsoft.com/office/drawing/2014/main" val="4480594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Sl No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Year( from 2020 onwards papers)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Authors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Title of the paper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Source(Journal/Conference name)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Objectve of the paper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Techniques Used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Dataset Used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Parameters Analysed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Research Inference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Research Gap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DOI of the paper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8440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Wasi, A.T.; Islam, M.D.; Akib, A.R.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SupplyGraph: A Benchmark Dataset for SC Planning using GNNs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 preprint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Introduce first public product-graph dataset for SC GNN research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GCN, GraphSAGE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SupplyGraph (FMCG company, Bangladesh)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Sales, production, delivery, factory-issue features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GNNs outperform classical ML/DL by 15-40% on anomaly detection tasks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No explainability layer; single-industry dataset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arXiv:2401.15299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225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Bin Wu, Kuo-Ming Chao, Yinsheng Li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MultiFraud: Heterogeneous GNNs for Fraud Detection in SC Finance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Information Systems (Elsevier),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Detect and explain fraud in SC finance using heterogeneous GNNs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Heterogeneous GNN, multitask learning, attention explanation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5 proprietary datasets (Ouyeel Inc.)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Fraud prediction accuracy, explanation relevance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Multi-graph modeling improves fraud detection and explainability jointly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Proprietary dataset; finance-only; static graph, no temporal modeling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ScienceDirect PII: 10.1016/j.is.2023.102335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21459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2022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Kosasih, E.E.; Brintrup, A.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ML Approach for Predicting Hidden Links in Supply Chain with GNNs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International Journal of Production Research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Predict hidden supply chain links via GNN link prediction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 link prediction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Industry-sourced supply chain knowledge graph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Link prediction accuracy / AUC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GNNs effectively predict undisclosed supplier relationships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No explainability layer; proprietary/commercial data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10.1080/00207543.2021.1956697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5950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Kosasih, E.E.; Margaroli, F.; Gelli, S.; et al.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KG Reasoning for Supply Chain Risk Management using GNNs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International Journal of Production Research, 62(15)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GNN-based KG reasoning to improve SC risk visibility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 knowledge graph reasoning, similarity-based link prediction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Industry supply chain knowledge graph (Achilles Ltd)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Risk/link prediction performance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Knowledge graph reasoning improves visibility into hidden supply chain risk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Commercial/confidential dataset; limited interpretability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10.1080/00207543.2022.2100841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686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Kosasih, E.E.; Brintrup, A.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Trustworthy AI for Link Prediction in SC KG: Neurosymbolic Approach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International Journal of Production Research, 63(6)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Improve trust/explainability of GNN link prediction via neurosymbolic reasoning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Neurosymbolic reasoning + GNN embeddings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Supply chain knowledge graph (Achilles Ltd, commercial)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Link prediction accuracy + interpretability/reasoning trace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Neurosymbolic reasoning achieves competitive accuracy with added transparency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Commercial, non-public dataset; link prediction only, not fraud/anomaly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10.1080/00207543.2024.2399713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59524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Zhou, Y.; et al.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HKTGNN: Hierarchical Knowledge Transferable GNN for SC Risk Assessment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 preprint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Simplify multi-tier SC risk assessment using hierarchical GNN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Hierarchical GNN, centrality-based knowledge transfer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Product-centric supply chain graph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Risk classification accuracy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Product-centric hierarchical graphs improve risk assessment over enterprise-level graphs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Limited interpretability; no human-readable explanation output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arXiv:2311.04244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287069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(2 of 3)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115568"/>
            <a:ext cx="10515600" cy="36576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cs typeface="Times New Roman"/>
              </a:rPr>
              <a:t>18 papers most relevant to this project (2020 onwards).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DFF1-A285-4E4A-BDEB-6217B7EFB245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87444"/>
              </p:ext>
            </p:extLst>
          </p:nvPr>
        </p:nvGraphicFramePr>
        <p:xfrm>
          <a:off x="384048" y="1508760"/>
          <a:ext cx="11429994" cy="3093720"/>
        </p:xfrm>
        <a:graphic>
          <a:graphicData uri="http://schemas.openxmlformats.org/drawingml/2006/table">
            <a:tbl>
              <a:tblPr/>
              <a:tblGrid>
                <a:gridCol w="321325">
                  <a:extLst>
                    <a:ext uri="{9D8B030D-6E8A-4147-A177-3AD203B41FA5}">
                      <a16:colId xmlns:a16="http://schemas.microsoft.com/office/drawing/2014/main" val="2320967467"/>
                    </a:ext>
                  </a:extLst>
                </a:gridCol>
                <a:gridCol w="459036">
                  <a:extLst>
                    <a:ext uri="{9D8B030D-6E8A-4147-A177-3AD203B41FA5}">
                      <a16:colId xmlns:a16="http://schemas.microsoft.com/office/drawing/2014/main" val="1773147566"/>
                    </a:ext>
                  </a:extLst>
                </a:gridCol>
                <a:gridCol w="963975">
                  <a:extLst>
                    <a:ext uri="{9D8B030D-6E8A-4147-A177-3AD203B41FA5}">
                      <a16:colId xmlns:a16="http://schemas.microsoft.com/office/drawing/2014/main" val="3614679244"/>
                    </a:ext>
                  </a:extLst>
                </a:gridCol>
                <a:gridCol w="1239397">
                  <a:extLst>
                    <a:ext uri="{9D8B030D-6E8A-4147-A177-3AD203B41FA5}">
                      <a16:colId xmlns:a16="http://schemas.microsoft.com/office/drawing/2014/main" val="1867444956"/>
                    </a:ext>
                  </a:extLst>
                </a:gridCol>
                <a:gridCol w="872168">
                  <a:extLst>
                    <a:ext uri="{9D8B030D-6E8A-4147-A177-3AD203B41FA5}">
                      <a16:colId xmlns:a16="http://schemas.microsoft.com/office/drawing/2014/main" val="2466615718"/>
                    </a:ext>
                  </a:extLst>
                </a:gridCol>
                <a:gridCol w="1147590">
                  <a:extLst>
                    <a:ext uri="{9D8B030D-6E8A-4147-A177-3AD203B41FA5}">
                      <a16:colId xmlns:a16="http://schemas.microsoft.com/office/drawing/2014/main" val="3131005202"/>
                    </a:ext>
                  </a:extLst>
                </a:gridCol>
                <a:gridCol w="918072">
                  <a:extLst>
                    <a:ext uri="{9D8B030D-6E8A-4147-A177-3AD203B41FA5}">
                      <a16:colId xmlns:a16="http://schemas.microsoft.com/office/drawing/2014/main" val="2820496137"/>
                    </a:ext>
                  </a:extLst>
                </a:gridCol>
                <a:gridCol w="918072">
                  <a:extLst>
                    <a:ext uri="{9D8B030D-6E8A-4147-A177-3AD203B41FA5}">
                      <a16:colId xmlns:a16="http://schemas.microsoft.com/office/drawing/2014/main" val="3963344226"/>
                    </a:ext>
                  </a:extLst>
                </a:gridCol>
                <a:gridCol w="872168">
                  <a:extLst>
                    <a:ext uri="{9D8B030D-6E8A-4147-A177-3AD203B41FA5}">
                      <a16:colId xmlns:a16="http://schemas.microsoft.com/office/drawing/2014/main" val="824182350"/>
                    </a:ext>
                  </a:extLst>
                </a:gridCol>
                <a:gridCol w="1285301">
                  <a:extLst>
                    <a:ext uri="{9D8B030D-6E8A-4147-A177-3AD203B41FA5}">
                      <a16:colId xmlns:a16="http://schemas.microsoft.com/office/drawing/2014/main" val="523834847"/>
                    </a:ext>
                  </a:extLst>
                </a:gridCol>
                <a:gridCol w="1239397">
                  <a:extLst>
                    <a:ext uri="{9D8B030D-6E8A-4147-A177-3AD203B41FA5}">
                      <a16:colId xmlns:a16="http://schemas.microsoft.com/office/drawing/2014/main" val="1021730221"/>
                    </a:ext>
                  </a:extLst>
                </a:gridCol>
                <a:gridCol w="1193493">
                  <a:extLst>
                    <a:ext uri="{9D8B030D-6E8A-4147-A177-3AD203B41FA5}">
                      <a16:colId xmlns:a16="http://schemas.microsoft.com/office/drawing/2014/main" val="4480594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Sl No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Year( from 2020 onwards papers)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Authors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Title of the paper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Source(Journal/Conference name)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Objectve of the paper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Techniques Used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Dataset Used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Parameters Analysed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Research Inference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Research Gap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DOI of the paper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8440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Tu, Y.; Li, W.; Song, X.; Gong, K.; Liu, L.; Qin, Y.; Liu, S.; Liu, M.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GNN-Based Supplier Recommendation on Large-Scale Supply Chain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International Journal of Production Research, 62(24)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Recommend alternative suppliers during disruptions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GNN-based recommendation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Large-scale industry supply chain data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Recommendation accuracy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GNN-based supplier recommendation improves disruption resilience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Focused on recommendation, not risk scoring or explainability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10.1080/00207543.2024.2344661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225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8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Yang, S.; Ogawa, Y.; Ikeuchi, K.; Shibasaki, R.; Okuma, Y.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Post-Hazard SC Disruption: Predicting Firm Sales Using GNN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International Journal of Disaster Risk Reduction, 110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Predict firm sales after SC disruption using GNN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 for disruption/sales prediction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Firm-level sales and supply chain network data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Sales prediction accuracy post-disruption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 improves post-hazard sales prediction over network-agnostic baselines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Focused on disruption/sales, not fraud or explainability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Article 104664 (Elsevier)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4429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2025/2026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Ying Liu, Shuang Liu, Yu Lu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 Financial Risk Assessment: Modified GAT (EGATCL)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ScienceDirect (in press)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Assess SC finance credit risk via structural risk-transmission modeling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Enhanced Graph Attention Network + Contrastive Learning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CSMAR database (China)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Credit risk prediction accuracy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Structural GNN modeling captures credit risk transmission better than firm-level models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Firm-level-only prior models neglect network transmission; single-country dataset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ScienceDirect PII: S1544612325015399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6800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Xiaochuan Tang, Yu Wang, Xin Liu, Xiaojun Yuan, Chao Fan, Yanmei Hu, Qiang Miao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Federated GNN for Privacy-Preserved SC Data Sharing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ScienceDirect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Privacy-preserving cross-company SC link prediction via federated GNN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Federated Learning + GCN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Country-level supply chain knowledge graphs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Link prediction accuracy under federated setting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Federated GCN accurately predicts relationships without raw data sharing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Focused on link prediction/privacy, not fraud or risk scoring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ScienceDirect PII: S1568494624012493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000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Donghun Lee, Jimin Go, Taehyun Noh, Seokwoo Song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Multi-Feature GAT for Predicting Potential Supply Relationships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ScienceDirect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Predict supplier relationships using semantic + topological features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Graph Attention Networks, multi-feature representation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Large-scale real-world supply chain network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Relationship prediction accuracy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Multi-feature GAT outperforms fixed-aggregation GNN and ML baselines (SVM, RF, k-NN)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Focused on supplier discovery, not risk/fraud explainability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ScienceDirect PII: S0957417425022122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55897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2026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Yuhan Guo, Runsheng Chen, Hamid Allaoui, Alok Choudhary, Wenhua Li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Dual Attention GNN for Sustainable SC Optimization under EPC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ScienceDirect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Optimize sustainable SC decisions under EPC using dual-attention GNN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Dual Attention GNN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Simulated energy performance contracting scenarios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Economic performance, emission reduction, operational continuity trade-offs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Dual-attention GNN better navigates multi-objective trade-offs than hybrid heuristics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Focused on sustainability optimization, not fraud/risk explainability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ScienceDirect PII: S1366554526000426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569017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(3 of 3)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115568"/>
            <a:ext cx="10515600" cy="36576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cs typeface="Times New Roman"/>
              </a:rPr>
              <a:t>18 papers most relevant to this project (2020 onwards).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DFF1-A285-4E4A-BDEB-6217B7EFB245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87444"/>
              </p:ext>
            </p:extLst>
          </p:nvPr>
        </p:nvGraphicFramePr>
        <p:xfrm>
          <a:off x="384048" y="1508760"/>
          <a:ext cx="11429994" cy="3307080"/>
        </p:xfrm>
        <a:graphic>
          <a:graphicData uri="http://schemas.openxmlformats.org/drawingml/2006/table">
            <a:tbl>
              <a:tblPr/>
              <a:tblGrid>
                <a:gridCol w="321325">
                  <a:extLst>
                    <a:ext uri="{9D8B030D-6E8A-4147-A177-3AD203B41FA5}">
                      <a16:colId xmlns:a16="http://schemas.microsoft.com/office/drawing/2014/main" val="2320967467"/>
                    </a:ext>
                  </a:extLst>
                </a:gridCol>
                <a:gridCol w="459036">
                  <a:extLst>
                    <a:ext uri="{9D8B030D-6E8A-4147-A177-3AD203B41FA5}">
                      <a16:colId xmlns:a16="http://schemas.microsoft.com/office/drawing/2014/main" val="1773147566"/>
                    </a:ext>
                  </a:extLst>
                </a:gridCol>
                <a:gridCol w="963975">
                  <a:extLst>
                    <a:ext uri="{9D8B030D-6E8A-4147-A177-3AD203B41FA5}">
                      <a16:colId xmlns:a16="http://schemas.microsoft.com/office/drawing/2014/main" val="3614679244"/>
                    </a:ext>
                  </a:extLst>
                </a:gridCol>
                <a:gridCol w="1239397">
                  <a:extLst>
                    <a:ext uri="{9D8B030D-6E8A-4147-A177-3AD203B41FA5}">
                      <a16:colId xmlns:a16="http://schemas.microsoft.com/office/drawing/2014/main" val="1867444956"/>
                    </a:ext>
                  </a:extLst>
                </a:gridCol>
                <a:gridCol w="872168">
                  <a:extLst>
                    <a:ext uri="{9D8B030D-6E8A-4147-A177-3AD203B41FA5}">
                      <a16:colId xmlns:a16="http://schemas.microsoft.com/office/drawing/2014/main" val="2466615718"/>
                    </a:ext>
                  </a:extLst>
                </a:gridCol>
                <a:gridCol w="1147590">
                  <a:extLst>
                    <a:ext uri="{9D8B030D-6E8A-4147-A177-3AD203B41FA5}">
                      <a16:colId xmlns:a16="http://schemas.microsoft.com/office/drawing/2014/main" val="3131005202"/>
                    </a:ext>
                  </a:extLst>
                </a:gridCol>
                <a:gridCol w="918072">
                  <a:extLst>
                    <a:ext uri="{9D8B030D-6E8A-4147-A177-3AD203B41FA5}">
                      <a16:colId xmlns:a16="http://schemas.microsoft.com/office/drawing/2014/main" val="2820496137"/>
                    </a:ext>
                  </a:extLst>
                </a:gridCol>
                <a:gridCol w="918072">
                  <a:extLst>
                    <a:ext uri="{9D8B030D-6E8A-4147-A177-3AD203B41FA5}">
                      <a16:colId xmlns:a16="http://schemas.microsoft.com/office/drawing/2014/main" val="3963344226"/>
                    </a:ext>
                  </a:extLst>
                </a:gridCol>
                <a:gridCol w="872168">
                  <a:extLst>
                    <a:ext uri="{9D8B030D-6E8A-4147-A177-3AD203B41FA5}">
                      <a16:colId xmlns:a16="http://schemas.microsoft.com/office/drawing/2014/main" val="824182350"/>
                    </a:ext>
                  </a:extLst>
                </a:gridCol>
                <a:gridCol w="1285301">
                  <a:extLst>
                    <a:ext uri="{9D8B030D-6E8A-4147-A177-3AD203B41FA5}">
                      <a16:colId xmlns:a16="http://schemas.microsoft.com/office/drawing/2014/main" val="523834847"/>
                    </a:ext>
                  </a:extLst>
                </a:gridCol>
                <a:gridCol w="1239397">
                  <a:extLst>
                    <a:ext uri="{9D8B030D-6E8A-4147-A177-3AD203B41FA5}">
                      <a16:colId xmlns:a16="http://schemas.microsoft.com/office/drawing/2014/main" val="1021730221"/>
                    </a:ext>
                  </a:extLst>
                </a:gridCol>
                <a:gridCol w="1193493">
                  <a:extLst>
                    <a:ext uri="{9D8B030D-6E8A-4147-A177-3AD203B41FA5}">
                      <a16:colId xmlns:a16="http://schemas.microsoft.com/office/drawing/2014/main" val="4480594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Sl No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Year( from 2020 onwards papers)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Authors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Title of the paper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Source(Journal/Conference name)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Objectve of the paper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Techniques Used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Dataset Used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Parameters Analysed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Research Inference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Research Gap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latin typeface="Times New Roman"/>
                          <a:cs typeface="Times New Roman"/>
                        </a:rPr>
                        <a:t>DOI of the paper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8440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2025/2026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Zhiming Xue, Menghao Huo, Yujue Wang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EAGLE: Edge-Aware Graph Learning for Delivery Delay Prediction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 preprint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Proactively predict delivery delays in logistics networks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Edge-aware graph learning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Smart logistics network data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Delay prediction accuracy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Edge-aware modeling improves proactive delay prediction over node-only GNN baselines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Focused on delay prediction, not explainability or fraud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arXiv:2604.05254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225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Kenji Nakamura, Laura Schneider)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Heterogeneous Graph Transformers for End-to-End SC Risk Assessment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Innovation and Technology Studies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Multi-source (supplier, climate, market) end-to-end SC risk assessment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Heterogeneous Graph Transformer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Multi-tier supply chain networks with climate and market data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Risk prediction accuracy, cascading risk propagation detection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Outperforms conventional GNNs in multi-tier cascading risk prediction with partial interpretability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Complexity of multi-source integration; interpretability only partial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Not listed (institutional repository)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00799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Wasi, A.T.; Islam, M.D.; Akib, A.R.; Bappy, M.M.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GNNs in Supply Chain Analytics and Optimization: Concepts and Benchmarks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 preprint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Survey GNN applications in SC and identify under-explored tasks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Survey of GCN/GraphSAGE/GAT applications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SupplyGraph benchmark + review of other datasets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Comparative review of task coverage across GNN supply chain literature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Production planning remains an under-explored task for GNN-based methods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Production planning task gap; lack of standardized benchmarks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arXiv:2411.08550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35557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2026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Li, X.; et al.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TG-RRNet: SC Risk Perception Network with Temporal + Generative Anomaly Detection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Engineering Reports (Wiley)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Early risk detection via temporal graph learning and generative anomaly detection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Temporal GNN, generative anomaly detection, multimodal cross-attention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Not confirmed public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Risk node detection accuracy vs. snapshot-based classifiers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Temporal and generative modeling surfaces high-risk nodes before disruption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No confirmed public dataset; no per-prediction explanation layer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10.1002/eng2.70606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87803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17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Kihwan Han (single author, Juniper Networks))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Applying GNN to SupplyGraph for Supply Chain Network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 preprint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Apply GNN link prediction to SupplyGraph for demand forecasting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GNN-based demand forecasting + link prediction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SupplyGraph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Demand forecasting accuracy with vs. without network structure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 with network structure outperforms ML models ignoring network structure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Single dataset validation; limited exploration of other GNN use cases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arXiv:2408.14501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3158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Chi-Sheng Chen (independent researcher), Ying-Jung Chen (Georgia Tech)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Optimizing Supply Chain Networks with GNNs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 preprint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Apply GNNs to forecasting, production planning, risk assessment on SupplyGraph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GCN, GraphSAGE across multiple tasks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SupplyGraph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Task-specific accuracy across forecasting/planning/risk assessment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GNNs provide consistent improvements across multiple supply chain analytics tasks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No dedicated explainability component; single dataset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arXiv:2501.06221</a:t>
                      </a:r>
                    </a:p>
                  </a:txBody>
                  <a:tcPr marL="36576" marR="36576" marT="22860" marB="228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477044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188720"/>
            <a:ext cx="10515600" cy="9144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Times New Roman"/>
                <a:cs typeface="Times New Roman"/>
              </a:rPr>
              <a:t>Research gap identification</a:t>
            </a:r>
            <a:r>
              <a:rPr lang="en-US" sz="1500">
                <a:latin typeface="Times New Roman"/>
                <a:cs typeface="Times New Roman"/>
              </a:rPr>
              <a:t> analyses the literature to find limitations and unresolved issues that the proposed work addresses. Across the 18 papers reviewed, none combines a reproducible dataset, per-prediction explainability and a scalable big-data design.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A5EF-5AA9-4F6C-8A60-ED82F2EF83AE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F1EDB7-8761-CEC4-B291-FF5C19314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712854"/>
              </p:ext>
            </p:extLst>
          </p:nvPr>
        </p:nvGraphicFramePr>
        <p:xfrm>
          <a:off x="384048" y="2240280"/>
          <a:ext cx="11429996" cy="2880360"/>
        </p:xfrm>
        <a:graphic>
          <a:graphicData uri="http://schemas.openxmlformats.org/drawingml/2006/table">
            <a:tbl>
              <a:tblPr/>
              <a:tblGrid>
                <a:gridCol w="381867">
                  <a:extLst>
                    <a:ext uri="{9D8B030D-6E8A-4147-A177-3AD203B41FA5}">
                      <a16:colId xmlns:a16="http://schemas.microsoft.com/office/drawing/2014/main" val="833555039"/>
                    </a:ext>
                  </a:extLst>
                </a:gridCol>
                <a:gridCol w="2412710">
                  <a:extLst>
                    <a:ext uri="{9D8B030D-6E8A-4147-A177-3AD203B41FA5}">
                      <a16:colId xmlns:a16="http://schemas.microsoft.com/office/drawing/2014/main" val="848811906"/>
                    </a:ext>
                  </a:extLst>
                </a:gridCol>
                <a:gridCol w="1761799">
                  <a:extLst>
                    <a:ext uri="{9D8B030D-6E8A-4147-A177-3AD203B41FA5}">
                      <a16:colId xmlns:a16="http://schemas.microsoft.com/office/drawing/2014/main" val="1963808402"/>
                    </a:ext>
                  </a:extLst>
                </a:gridCol>
                <a:gridCol w="3254555">
                  <a:extLst>
                    <a:ext uri="{9D8B030D-6E8A-4147-A177-3AD203B41FA5}">
                      <a16:colId xmlns:a16="http://schemas.microsoft.com/office/drawing/2014/main" val="7160780"/>
                    </a:ext>
                  </a:extLst>
                </a:gridCol>
                <a:gridCol w="1857266">
                  <a:extLst>
                    <a:ext uri="{9D8B030D-6E8A-4147-A177-3AD203B41FA5}">
                      <a16:colId xmlns:a16="http://schemas.microsoft.com/office/drawing/2014/main" val="315075706"/>
                    </a:ext>
                  </a:extLst>
                </a:gridCol>
                <a:gridCol w="1761799">
                  <a:extLst>
                    <a:ext uri="{9D8B030D-6E8A-4147-A177-3AD203B41FA5}">
                      <a16:colId xmlns:a16="http://schemas.microsoft.com/office/drawing/2014/main" val="306980839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Times New Roman"/>
                          <a:cs typeface="Times New Roman"/>
                        </a:rPr>
                        <a:t>S.No.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Times New Roman"/>
                          <a:cs typeface="Times New Roman"/>
                        </a:rPr>
                        <a:t>Paper Title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Times New Roman"/>
                          <a:cs typeface="Times New Roman"/>
                        </a:rPr>
                        <a:t>Author Name(s)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Times New Roman"/>
                          <a:cs typeface="Times New Roman"/>
                        </a:rPr>
                        <a:t>Methodology / Model Used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Times New Roman"/>
                          <a:cs typeface="Times New Roman"/>
                        </a:rPr>
                        <a:t>Key Findings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Times New Roman"/>
                          <a:cs typeface="Times New Roman"/>
                        </a:rPr>
                        <a:t>Research Gap Identified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4301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SupplyGraph: A Benchmark Dataset for SC Planning using GNNs (2024)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Wasi, A.T.; Islam, M.D.; Akib, A.R.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GCN / GraphSAGE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First public product-graph dataset; GNNs outperform classical ML by 15-40% on anomaly detection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No explainability layer; single FMCG company; authors flag interpretability as future work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1187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MultiFraud: Heterogeneous GNNs for Fraud Detection in SC Finance (2023)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Bin Wu, Kuo-Ming Chao, Yinsheng Li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Heterogeneous GNN + attention explanation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Multi-graph modeling improves fraud detection and explainability jointly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Proprietary dataset; finance-only; static graph, no temporal modeling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2683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Fraud Detection in SC Transactions using ML and Behavioral Analytics (ICSIT, 2025)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ICSIT 2025 Proceedings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Logistic Regression, Random Forest, XGBoost, GNN + 48 behavioral features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Behavioral-feature-enriched GNNoutperforms tabular ML baselines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Proprietary dataset; no explainability layer; batch/offline evaluation only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1775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TG-RRNet: SC Risk Perception Network with Temporal + Generative Anomaly Detection (2026)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Li, X.; et al.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Temporal GNN + generative anomaly detection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Temporal and generative modeling surfaces high-risk nodes before disruption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No confirmed public dataset; no per-prediction explanation layer</a:t>
                      </a:r>
                    </a:p>
                  </a:txBody>
                  <a:tcPr marL="36576" marR="36576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0711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22860" marB="228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HKTGNN: Hierarchical Knowledge Transferable GNN for SC Risk Assessment (2023)</a:t>
                      </a:r>
                    </a:p>
                  </a:txBody>
                  <a:tcPr marL="36576" marR="36576" marT="22860" marB="228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Zhou, Y.; et al.</a:t>
                      </a:r>
                    </a:p>
                  </a:txBody>
                  <a:tcPr marL="36576" marR="36576" marT="22860" marB="228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Hierarchical GNN, centrality-based knowledge transfer</a:t>
                      </a:r>
                    </a:p>
                  </a:txBody>
                  <a:tcPr marL="36576" marR="36576" marT="22860" marB="228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Product-centric hierarchical graphs improve risk assessment over enterprise-level graphs</a:t>
                      </a:r>
                    </a:p>
                  </a:txBody>
                  <a:tcPr marL="36576" marR="36576" marT="22860" marB="228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Limited interpretability of predictions; no human-readable explanation output</a:t>
                      </a:r>
                    </a:p>
                  </a:txBody>
                  <a:tcPr marL="36576" marR="36576" marT="22860" marB="228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651099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A2691C9-D5FC-4B5D-BC2B-27DFE115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4754880"/>
          </a:xfrm>
        </p:spPr>
        <p:txBody>
          <a:bodyPr>
            <a:no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800" b="1">
                <a:latin typeface="Times New Roman"/>
                <a:cs typeface="Times New Roman"/>
              </a:rPr>
              <a:t>Existing systems: </a:t>
            </a:r>
            <a:r>
              <a:rPr lang="en-US" sz="1800">
                <a:latin typeface="Times New Roman"/>
                <a:cs typeface="Times New Roman"/>
              </a:rPr>
              <a:t>tabular models (Random Forest, XGBoost, logistic regression) classify each product independently; graph studies apply GCN / GraphSAGE (SupplyGraph benchmark), hierarchical product graphs (HKTGNN) and heterogeneous GNNs (MultiFraud).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800" b="1">
                <a:latin typeface="Times New Roman"/>
                <a:cs typeface="Times New Roman"/>
              </a:rPr>
              <a:t>Dataset and preprocessing: </a:t>
            </a:r>
            <a:r>
              <a:rPr lang="en-US" sz="1800">
                <a:latin typeface="Times New Roman"/>
                <a:cs typeface="Times New Roman"/>
              </a:rPr>
              <a:t>SupplyGraph (FMCG company): 40 products, 221 days of sales, production, factory-issue and delivery data; wide-to-long reshaping, joins and window statistics.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800" b="1">
                <a:latin typeface="Times New Roman"/>
                <a:cs typeface="Times New Roman"/>
              </a:rPr>
              <a:t>Architecture: </a:t>
            </a:r>
            <a:r>
              <a:rPr lang="en-US" sz="1800">
                <a:latin typeface="Times New Roman"/>
                <a:cs typeface="Times New Roman"/>
              </a:rPr>
              <a:t>node features plus plant, storage and product-group edges feed a GCN or GraphSAGE that outputs an anomaly, demand or risk label.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800" b="1">
                <a:latin typeface="Times New Roman"/>
                <a:cs typeface="Times New Roman"/>
              </a:rPr>
              <a:t>Reported results: </a:t>
            </a:r>
            <a:r>
              <a:rPr lang="en-US" sz="1800">
                <a:latin typeface="Times New Roman"/>
                <a:cs typeface="Times New Roman"/>
              </a:rPr>
              <a:t>GNNs outperform classical ML by 15–40% on anomaly detection (Wasi et al., 2024); structure-aware GNNs beat network-agnostic baselines on forecasting and risk tasks.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800" b="1">
                <a:latin typeface="Times New Roman"/>
                <a:cs typeface="Times New Roman"/>
              </a:rPr>
              <a:t>Limitations: </a:t>
            </a:r>
            <a:r>
              <a:rPr lang="en-US" sz="1800">
                <a:latin typeface="Times New Roman"/>
                <a:cs typeface="Times New Roman"/>
              </a:rPr>
              <a:t>no per-prediction explanation, single-industry or proprietary data, static graphs with weak leakage control, and little attention to scalable big-data pipelines.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0DC5-0D2F-4E5A-93DA-50CA5255A879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5505740-31D0-4B8F-B93F-9E8CA50A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3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4339D6-6FE3-4399-4485-B38014424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1968A65-53F6-02CC-8328-4C05E2F9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B963F0-CE78-8418-B0FF-CB2AC19C4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4846320"/>
          </a:xfrm>
        </p:spPr>
        <p:txBody>
          <a:bodyPr>
            <a:no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1">
                <a:latin typeface="Times New Roman"/>
                <a:cs typeface="Times New Roman"/>
              </a:rPr>
              <a:t>Approach: </a:t>
            </a:r>
            <a:r>
              <a:rPr lang="en-US" sz="1700">
                <a:latin typeface="Times New Roman"/>
                <a:cs typeface="Times New Roman"/>
              </a:rPr>
              <a:t>product-centric graph (40 nodes, 4,933 relation edges, plus a k = 5 feature-similarity graph) → GCN risk classifier → GNNExplainer reasons, with PySpark for data processing.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1">
                <a:latin typeface="Times New Roman"/>
                <a:cs typeface="Times New Roman"/>
              </a:rPr>
              <a:t>Models: </a:t>
            </a:r>
            <a:r>
              <a:rPr lang="en-US" sz="1700">
                <a:latin typeface="Times New Roman"/>
                <a:cs typeface="Times New Roman"/>
              </a:rPr>
              <a:t>GCN in PyTorch Geometric (convolution with skip connection and DropEdge) and a per-relation GCN, benchmarked against Random Forest, XGBoost and a no-graph network.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1">
                <a:latin typeface="Times New Roman"/>
                <a:cs typeface="Times New Roman"/>
              </a:rPr>
              <a:t>Data and features: </a:t>
            </a:r>
            <a:r>
              <a:rPr lang="en-US" sz="1700">
                <a:latin typeface="Times New Roman"/>
                <a:cs typeface="Times New Roman"/>
              </a:rPr>
              <a:t>8 temporal tables → 9,061-row master table; 26 weekly snapshots; 33 features from the past 28 days (efficiencies, variability, gaps, backlog, lags, graph degree).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1">
                <a:latin typeface="Times New Roman"/>
                <a:cs typeface="Times New Roman"/>
              </a:rPr>
              <a:t>Risk target: </a:t>
            </a:r>
            <a:r>
              <a:rPr lang="en-US" sz="1700">
                <a:latin typeface="Times New Roman"/>
                <a:cs typeface="Times New Roman"/>
              </a:rPr>
              <a:t>equal-weight index of six operational indicators over the next 14 days, cut at training-fold terciles into Low / Medium / High.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1">
                <a:latin typeface="Times New Roman"/>
                <a:cs typeface="Times New Roman"/>
              </a:rPr>
              <a:t>Reliability: </a:t>
            </a:r>
            <a:r>
              <a:rPr lang="en-US" sz="1700">
                <a:latin typeface="Times New Roman"/>
                <a:cs typeface="Times New Roman"/>
              </a:rPr>
              <a:t>chronological 3-fold CV with a gap, training-only scaling, bootstrap confidence intervals; PySpark features match NumPy (max difference 5.8e-11).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1">
                <a:latin typeface="Times New Roman"/>
                <a:cs typeface="Times New Roman"/>
              </a:rPr>
              <a:t>Improvements: </a:t>
            </a:r>
            <a:r>
              <a:rPr lang="en-US" sz="1700">
                <a:latin typeface="Times New Roman"/>
                <a:cs typeface="Times New Roman"/>
              </a:rPr>
              <a:t>leakage-free evaluation, readable per-prediction explanations and scalable processing (2,000 products in 19.3 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8EF88-DB87-BFD4-5712-B26B0A91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DC4D-5FC9-4DED-AA84-1308513D3018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E8D9B-B722-C7BB-DCC4-2004FDE4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722466-5193-9ADA-7831-F5C12C867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72F8B1C7-A251-C69D-45A8-2E561719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74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E4C09C-DC1C-CFDD-E541-E3E217F2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A565240-AB0E-979B-C488-016D9B8E9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/ Block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4B016-1EA7-F594-0861-9C3A65CF2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8BB7-19C4-4814-A818-0A76B993E409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626CB-8FE1-91D2-B2E1-20D18FB4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DA6167-FD4B-D3CA-5EAD-E841023E0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450F1E5-F04C-57CD-4EAD-456D213DD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66928" y="16002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Times New Roman"/>
              </a:rPr>
              <a:t>Input data</a:t>
            </a:r>
          </a:p>
          <a:p>
            <a:pPr algn="ctr"/>
            <a:r>
              <a:rPr sz="1100" dirty="0" err="1">
                <a:solidFill>
                  <a:srgbClr val="FFFFFF"/>
                </a:solidFill>
                <a:latin typeface="Times New Roman"/>
              </a:rPr>
              <a:t>SupplyGraph</a:t>
            </a:r>
            <a:r>
              <a:rPr sz="1100" dirty="0">
                <a:solidFill>
                  <a:srgbClr val="FFFFFF"/>
                </a:solidFill>
                <a:latin typeface="Times New Roman"/>
              </a:rPr>
              <a:t>: 8 temporal tables (unit + weight), nodes, 4 edge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002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PySpark preprocessing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Times New Roman"/>
              </a:rPr>
              <a:t>Wide-to-long reshape, joins, cleaning → 9,061-row master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6002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Times New Roman"/>
              </a:rPr>
              <a:t>Feature engineering</a:t>
            </a:r>
          </a:p>
          <a:p>
            <a:pPr algn="ctr"/>
            <a:r>
              <a:rPr sz="1100" dirty="0">
                <a:solidFill>
                  <a:srgbClr val="FFFFFF"/>
                </a:solidFill>
                <a:latin typeface="Times New Roman"/>
              </a:rPr>
              <a:t>26 weekly snapshots; 33 features from past 28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3144" y="16002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Graph construction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Times New Roman"/>
              </a:rPr>
              <a:t>40 nodes; relation graph (4,933 edges) and k = 5 similarity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Risk index and labels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Times New Roman"/>
              </a:rPr>
              <a:t>Six indicators over next 14 days → Low / Medium /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6576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Model training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Times New Roman"/>
              </a:rPr>
              <a:t>GCN vs Random Forest, XGBoost, no-graph 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36576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Evaluation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Times New Roman"/>
              </a:rPr>
              <a:t>Temporal 3-fold CV; accuracy, precision, recall, F1; bootstrap CIs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36576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GNNExplainer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Times New Roman"/>
              </a:rPr>
              <a:t>Feature and edge masks → human-readable reasons</a:t>
            </a:r>
          </a:p>
        </p:txBody>
      </p:sp>
      <p:cxnSp>
        <p:nvCxnSpPr>
          <p:cNvPr id="20" name="Connector 19"/>
          <p:cNvCxnSpPr>
            <a:stCxn id="12" idx="3"/>
            <a:endCxn id="13" idx="1"/>
          </p:cNvCxnSpPr>
          <p:nvPr/>
        </p:nvCxnSpPr>
        <p:spPr>
          <a:xfrm flipV="1">
            <a:off x="3035808" y="2263140"/>
            <a:ext cx="39319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3" idx="3"/>
            <a:endCxn id="14" idx="1"/>
          </p:cNvCxnSpPr>
          <p:nvPr/>
        </p:nvCxnSpPr>
        <p:spPr>
          <a:xfrm flipV="1">
            <a:off x="5897880" y="2263140"/>
            <a:ext cx="39319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4" idx="3"/>
            <a:endCxn id="15" idx="1"/>
          </p:cNvCxnSpPr>
          <p:nvPr/>
        </p:nvCxnSpPr>
        <p:spPr>
          <a:xfrm flipV="1">
            <a:off x="8759952" y="2263140"/>
            <a:ext cx="39319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6" idx="3"/>
            <a:endCxn id="17" idx="1"/>
          </p:cNvCxnSpPr>
          <p:nvPr/>
        </p:nvCxnSpPr>
        <p:spPr>
          <a:xfrm flipV="1">
            <a:off x="3035808" y="4320540"/>
            <a:ext cx="39319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7" idx="3"/>
            <a:endCxn id="18" idx="1"/>
          </p:cNvCxnSpPr>
          <p:nvPr/>
        </p:nvCxnSpPr>
        <p:spPr>
          <a:xfrm flipV="1">
            <a:off x="5897880" y="4320540"/>
            <a:ext cx="39319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8" idx="3"/>
            <a:endCxn id="19" idx="1"/>
          </p:cNvCxnSpPr>
          <p:nvPr/>
        </p:nvCxnSpPr>
        <p:spPr>
          <a:xfrm flipV="1">
            <a:off x="8759952" y="4320540"/>
            <a:ext cx="39319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5" idx="2"/>
            <a:endCxn id="16" idx="0"/>
          </p:cNvCxnSpPr>
          <p:nvPr/>
        </p:nvCxnSpPr>
        <p:spPr>
          <a:xfrm flipH="1">
            <a:off x="1801368" y="2926080"/>
            <a:ext cx="8586216" cy="731520"/>
          </a:xfrm>
          <a:prstGeom prst="bentConnector3">
            <a:avLst/>
          </a:prstGeom>
          <a:ln w="285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66160" y="5349240"/>
            <a:ext cx="502920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Output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Times New Roman"/>
              </a:rPr>
              <a:t>Risk class (Low / Medium / High) with plain-language reasons</a:t>
            </a:r>
          </a:p>
        </p:txBody>
      </p:sp>
      <p:cxnSp>
        <p:nvCxnSpPr>
          <p:cNvPr id="28" name="Connector 27"/>
          <p:cNvCxnSpPr>
            <a:stCxn id="19" idx="2"/>
            <a:endCxn id="27" idx="3"/>
          </p:cNvCxnSpPr>
          <p:nvPr/>
        </p:nvCxnSpPr>
        <p:spPr>
          <a:xfrm flipH="1">
            <a:off x="8595360" y="4983480"/>
            <a:ext cx="1792224" cy="75438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1188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Times New Roman"/>
              </a:rPr>
              <a:t>Flow: input data → PySpark preprocessing → features → graph → risk labels → models → evaluation → explanations → output</a:t>
            </a:r>
          </a:p>
        </p:txBody>
      </p:sp>
    </p:spTree>
    <p:extLst>
      <p:ext uri="{BB962C8B-B14F-4D97-AF65-F5344CB8AC3E}">
        <p14:creationId xmlns:p14="http://schemas.microsoft.com/office/powerpoint/2010/main" val="128670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2E72C4-5795-D6DE-0B99-B1776FFC9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AA2882-B71E-BDFF-ACB0-6B925BFF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 (1 of 3): Performance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4C7E7-86A9-B70B-C8CB-58F7BDD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FB17-B94C-42EE-A9FF-23E178F00115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4E940-FA4E-8DA6-E8EA-13D89555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B4436D-CD8B-D9B5-548B-8B0017F33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DDFECBD0-AB55-C228-C434-3D8BF7C8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Times New Roman"/>
              </a:rPr>
              <a:t>Three-class risk prediction, 504 held-out rows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536192"/>
          <a:ext cx="5577840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Acc.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Prec.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Rec.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Majority class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0.278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0.077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0.278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0.121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Persistence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0.442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0.446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0.442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0.444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0.526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0.530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0.526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0.528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0.506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0.513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0.506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0.507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No-graph network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0.550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0.570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0.550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0.557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GCN (relation graph)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0.496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0.507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0.496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0.499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GCN (per-relation)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0.516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0.517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0.516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0.517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GCN (similarity graph)</a:t>
                      </a:r>
                    </a:p>
                  </a:txBody>
                  <a:tcPr marL="36576" marR="36576" marT="22860" marB="22860" anchor="ctr"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0.524</a:t>
                      </a:r>
                    </a:p>
                  </a:txBody>
                  <a:tcPr marL="36576" marR="36576" marT="22860" marB="22860" anchor="ctr"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0.543</a:t>
                      </a:r>
                    </a:p>
                  </a:txBody>
                  <a:tcPr marL="36576" marR="36576" marT="22860" marB="22860" anchor="ctr"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0.524</a:t>
                      </a:r>
                    </a:p>
                  </a:txBody>
                  <a:tcPr marL="36576" marR="36576" marT="22860" marB="22860" anchor="ctr"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0.531</a:t>
                      </a:r>
                    </a:p>
                  </a:txBody>
                  <a:tcPr marL="36576" marR="36576" marT="22860" marB="22860" anchor="ctr">
                    <a:solidFill>
                      <a:srgbClr val="FFF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GCN (permuted graph)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0.538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0.542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0.538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0.540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5508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Times New Roman"/>
              </a:rPr>
              <a:t>Macro-F1 with 95% bootstrap confidence intervals</a:t>
            </a:r>
          </a:p>
        </p:txBody>
      </p:sp>
      <p:pic>
        <p:nvPicPr>
          <p:cNvPr id="15" name="Picture 14" descr="chart_macro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36192"/>
            <a:ext cx="5486400" cy="23197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4572000"/>
            <a:ext cx="11338560" cy="1737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latin typeface="Times New Roman"/>
                <a:cs typeface="Times New Roman"/>
              </a:rPr>
              <a:t>Setup: </a:t>
            </a:r>
            <a:r>
              <a:rPr lang="en-US" sz="1350" dirty="0">
                <a:latin typeface="Times New Roman"/>
                <a:cs typeface="Times New Roman"/>
              </a:rPr>
              <a:t>chronological 3-fold CV on 26 weekly snapshots; precision, recall and F1 are weighted averages; GCN (similarity graph) highlighted.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latin typeface="Times New Roman"/>
                <a:cs typeface="Times New Roman"/>
              </a:rPr>
              <a:t>Comparable accuracy: </a:t>
            </a:r>
            <a:r>
              <a:rPr lang="en-US" sz="1350" dirty="0">
                <a:latin typeface="Times New Roman"/>
                <a:cs typeface="Times New Roman"/>
              </a:rPr>
              <a:t>GCN (similarity graph) F1 0.531 vs Random Forest 0.528 and </a:t>
            </a:r>
            <a:r>
              <a:rPr lang="en-US" sz="1350" dirty="0" err="1">
                <a:latin typeface="Times New Roman"/>
                <a:cs typeface="Times New Roman"/>
              </a:rPr>
              <a:t>XGBoost</a:t>
            </a:r>
            <a:r>
              <a:rPr lang="en-US" sz="1350" dirty="0">
                <a:latin typeface="Times New Roman"/>
                <a:cs typeface="Times New Roman"/>
              </a:rPr>
              <a:t> 0.507; all clearly beat the persistence (0.444) and majority-class (0.121) baselines.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latin typeface="Times New Roman"/>
                <a:cs typeface="Times New Roman"/>
              </a:rPr>
              <a:t>Honest reading: </a:t>
            </a:r>
            <a:r>
              <a:rPr lang="en-US" sz="1350" dirty="0">
                <a:latin typeface="Times New Roman"/>
                <a:cs typeface="Times New Roman"/>
              </a:rPr>
              <a:t>a graph-free network scores highest (0.557) and confidence intervals overlap, so a graph benefit is not yet significant on a 40-node network.</a:t>
            </a:r>
          </a:p>
        </p:txBody>
      </p:sp>
    </p:spTree>
    <p:extLst>
      <p:ext uri="{BB962C8B-B14F-4D97-AF65-F5344CB8AC3E}">
        <p14:creationId xmlns:p14="http://schemas.microsoft.com/office/powerpoint/2010/main" val="1298479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2E72C4-5795-D6DE-0B99-B1776FFC9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AA2882-B71E-BDFF-ACB0-6B925BFF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 (2 of 3): Graph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4C7E7-86A9-B70B-C8CB-58F7BDD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FB17-B94C-42EE-A9FF-23E178F00115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4E940-FA4E-8DA6-E8EA-13D89555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B4436D-CD8B-D9B5-548B-8B0017F33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DDFECBD0-AB55-C228-C434-3D8BF7C8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  <p:pic>
        <p:nvPicPr>
          <p:cNvPr id="12" name="Picture 11" descr="c197_o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5943600" cy="2877954"/>
          </a:xfrm>
          <a:prstGeom prst="rect">
            <a:avLst/>
          </a:prstGeom>
        </p:spPr>
      </p:pic>
      <p:pic>
        <p:nvPicPr>
          <p:cNvPr id="13" name="Picture 12" descr="c197_o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554480"/>
            <a:ext cx="5303520" cy="22828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Times New Roman"/>
              </a:rPr>
              <a:t>Relation graph vs feature-similarity graph (k = 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Times New Roman"/>
              </a:rPr>
              <a:t>Node degree vs future shortfall /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43400"/>
            <a:ext cx="11338560" cy="1920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50" b="1">
                <a:latin typeface="Times New Roman"/>
                <a:cs typeface="Times New Roman"/>
              </a:rPr>
              <a:t>Graph scale: </a:t>
            </a:r>
            <a:r>
              <a:rPr lang="en-US" sz="1350">
                <a:latin typeface="Times New Roman"/>
                <a:cs typeface="Times New Roman"/>
              </a:rPr>
              <a:t>relation graph has 684 product-pair edges (mean degree 34.2); the similarity graph keeps 146 edges (mean degree 7.3), linking products with similar sales, delivery efficiency and backlog.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50" b="1">
                <a:latin typeface="Times New Roman"/>
                <a:cs typeface="Times New Roman"/>
              </a:rPr>
              <a:t>Network position: </a:t>
            </a:r>
            <a:r>
              <a:rPr lang="en-US" sz="1350">
                <a:latin typeface="Times New Roman"/>
                <a:cs typeface="Times New Roman"/>
              </a:rPr>
              <a:t>degree correlates strongly with sales volume (Spearman 0.86) and negatively with the share of High-shortfall snapshots (−0.63, 31 products): well-connected, high-volume products are late less often.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50" b="1">
                <a:latin typeface="Times New Roman"/>
                <a:cs typeface="Times New Roman"/>
              </a:rPr>
              <a:t>Graph choice matters: </a:t>
            </a:r>
            <a:r>
              <a:rPr lang="en-US" sz="1350">
                <a:latin typeface="Times New Roman"/>
                <a:cs typeface="Times New Roman"/>
              </a:rPr>
              <a:t>the similarity graph (macro-F1 0.519) outperformed the dense relation graph (0.484), which over-smooths node features.</a:t>
            </a:r>
          </a:p>
        </p:txBody>
      </p:sp>
    </p:spTree>
    <p:extLst>
      <p:ext uri="{BB962C8B-B14F-4D97-AF65-F5344CB8AC3E}">
        <p14:creationId xmlns:p14="http://schemas.microsoft.com/office/powerpoint/2010/main" val="1298479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2E72C4-5795-D6DE-0B99-B1776FFC9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AA2882-B71E-BDFF-ACB0-6B925BFF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 (3 of 3): Explainability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4C7E7-86A9-B70B-C8CB-58F7BDD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FB17-B94C-42EE-A9FF-23E178F00115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4E940-FA4E-8DA6-E8EA-13D89555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B4436D-CD8B-D9B5-548B-8B0017F33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DDFECBD0-AB55-C228-C434-3D8BF7C8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411480" y="1234440"/>
            <a:ext cx="3657600" cy="13258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C00000"/>
                </a:solidFill>
                <a:latin typeface="Arial"/>
              </a:rPr>
              <a:t>0.97</a:t>
            </a:r>
          </a:p>
          <a:p>
            <a:pPr algn="ctr"/>
            <a:r>
              <a:rPr sz="1200">
                <a:solidFill>
                  <a:srgbClr val="404040"/>
                </a:solidFill>
                <a:latin typeface="Times New Roman"/>
              </a:rPr>
              <a:t>GNNExplainer stability (mean Spearman across runs)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34440"/>
            <a:ext cx="3657600" cy="13258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C00000"/>
                </a:solidFill>
                <a:latin typeface="Arial"/>
              </a:rPr>
              <a:t>20 / 60</a:t>
            </a:r>
          </a:p>
          <a:p>
            <a:pPr algn="ctr"/>
            <a:r>
              <a:rPr sz="1200">
                <a:solidFill>
                  <a:srgbClr val="404040"/>
                </a:solidFill>
                <a:latin typeface="Times New Roman"/>
              </a:rPr>
              <a:t>predictions flip when top-3 explained features are masked (random: 4 / 60)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657600" cy="132588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C00000"/>
                </a:solidFill>
                <a:latin typeface="Arial"/>
              </a:rPr>
              <a:t>50×</a:t>
            </a:r>
          </a:p>
          <a:p>
            <a:pPr algn="ctr"/>
            <a:r>
              <a:rPr sz="1200">
                <a:solidFill>
                  <a:srgbClr val="404040"/>
                </a:solidFill>
                <a:latin typeface="Times New Roman"/>
              </a:rPr>
              <a:t>more data in 6.7× the time with PySpark (2,000 products, 19.3 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432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Times New Roman"/>
              </a:rPr>
              <a:t>Example GNNExplainer outputs (High-risk products)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11480" y="3090672"/>
          <a:ext cx="6583680" cy="18653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P(High)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Leading reasons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MAC1K25P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1.00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Unstable sales demand; production inefficiency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ATWWP001K24P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1.00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Unstable production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ATWWP002K12P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1.00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Delivery-related problems (open-order backlog)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MAHS025K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0.97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Delivery-related problems (recent shortfall)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POP500M24P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0.56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Production below demand; heavily connected product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31520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Times New Roman"/>
              </a:rPr>
              <a:t>PySpark scaling (same code, replicated products)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0" y="3090672"/>
          <a:ext cx="4480560" cy="12435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Scale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Products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Daily records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</a:p>
                  </a:txBody>
                  <a:tcPr marL="36576" marR="36576" marT="22860" marB="228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1×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8,840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2.9 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10×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88,400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4.6 s</a:t>
                      </a:r>
                    </a:p>
                  </a:txBody>
                  <a:tcPr marL="36576" marR="36576" marT="22860" marB="22860" anchor="ctr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2,000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442,000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19.3 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11480" y="5120640"/>
            <a:ext cx="1133856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50" b="1">
                <a:latin typeface="Times New Roman"/>
                <a:cs typeface="Times New Roman"/>
              </a:rPr>
              <a:t>Reasons are readable: </a:t>
            </a:r>
            <a:r>
              <a:rPr lang="en-US" sz="1350">
                <a:latin typeface="Times New Roman"/>
                <a:cs typeface="Times New Roman"/>
              </a:rPr>
              <a:t>explanations name unstable sales demand, production inefficiency, delivery backlog or shortfall, and network exposure.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50" b="1">
                <a:latin typeface="Times New Roman"/>
                <a:cs typeface="Times New Roman"/>
              </a:rPr>
              <a:t>Correct at scale: </a:t>
            </a:r>
            <a:r>
              <a:rPr lang="en-US" sz="1350">
                <a:latin typeface="Times New Roman"/>
                <a:cs typeface="Times New Roman"/>
              </a:rPr>
              <a:t>PySpark window features match the NumPy reference to 5.8e-11, so the big-data pipeline is a faithful drop-in.</a:t>
            </a:r>
          </a:p>
        </p:txBody>
      </p:sp>
    </p:spTree>
    <p:extLst>
      <p:ext uri="{BB962C8B-B14F-4D97-AF65-F5344CB8AC3E}">
        <p14:creationId xmlns:p14="http://schemas.microsoft.com/office/powerpoint/2010/main" val="1298479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000" b="1" dirty="0">
                <a:latin typeface="Times New Roman"/>
                <a:cs typeface="Times New Roman"/>
              </a:rPr>
              <a:t>Summary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Delivered an explainable GNN framework: </a:t>
            </a:r>
            <a:r>
              <a:rPr lang="en-US" sz="1700" dirty="0" err="1">
                <a:latin typeface="Times New Roman"/>
                <a:cs typeface="Times New Roman"/>
              </a:rPr>
              <a:t>PySpark</a:t>
            </a:r>
            <a:r>
              <a:rPr lang="en-US" sz="1700" dirty="0">
                <a:latin typeface="Times New Roman"/>
                <a:cs typeface="Times New Roman"/>
              </a:rPr>
              <a:t> pipeline → product graph → GCN → </a:t>
            </a:r>
            <a:r>
              <a:rPr lang="en-US" sz="1700" dirty="0" err="1">
                <a:latin typeface="Times New Roman"/>
                <a:cs typeface="Times New Roman"/>
              </a:rPr>
              <a:t>GNNExplainer</a:t>
            </a:r>
            <a:r>
              <a:rPr lang="en-US" sz="1700" dirty="0">
                <a:latin typeface="Times New Roman"/>
                <a:cs typeface="Times New Roman"/>
              </a:rPr>
              <a:t> reasons for Low / Medium / High risk.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On 504 held-out rows the GCN (similarity graph) reaches accuracy 0.524 and F1 0.531, on par with Random Forest (0.528) and </a:t>
            </a:r>
            <a:r>
              <a:rPr lang="en-US" sz="1700" dirty="0" err="1">
                <a:latin typeface="Times New Roman"/>
                <a:cs typeface="Times New Roman"/>
              </a:rPr>
              <a:t>XGBoost</a:t>
            </a:r>
            <a:r>
              <a:rPr lang="en-US" sz="1700" dirty="0">
                <a:latin typeface="Times New Roman"/>
                <a:cs typeface="Times New Roman"/>
              </a:rPr>
              <a:t> (0.507); a graph-free network scores 0.557, so graph gains are not yet significant on 40 nodes.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Explanations are stable (0.97) and faithful (20/60 vs 4/60 flips); </a:t>
            </a:r>
            <a:r>
              <a:rPr lang="en-US" sz="1700" dirty="0" err="1">
                <a:latin typeface="Times New Roman"/>
                <a:cs typeface="Times New Roman"/>
              </a:rPr>
              <a:t>PySpark</a:t>
            </a:r>
            <a:r>
              <a:rPr lang="en-US" sz="1700" dirty="0">
                <a:latin typeface="Times New Roman"/>
                <a:cs typeface="Times New Roman"/>
              </a:rPr>
              <a:t> processes 50× the data in 6.7× the time.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000" b="1" dirty="0">
                <a:latin typeface="Times New Roman"/>
                <a:cs typeface="Times New Roman"/>
              </a:rPr>
              <a:t>Next steps for final submission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700" dirty="0" err="1">
                <a:latin typeface="Times New Roman"/>
                <a:cs typeface="Times New Roman"/>
              </a:rPr>
              <a:t>Finalise</a:t>
            </a:r>
            <a:r>
              <a:rPr lang="en-US" sz="1700" dirty="0">
                <a:latin typeface="Times New Roman"/>
                <a:cs typeface="Times New Roman"/>
              </a:rPr>
              <a:t> the project report, GitHub repository, demo video and PPT for the guide 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Future work: larger multi-tier graphs, temporal GNNs (GAT / </a:t>
            </a:r>
            <a:r>
              <a:rPr lang="en-US" sz="1700" dirty="0" err="1">
                <a:latin typeface="Times New Roman"/>
                <a:cs typeface="Times New Roman"/>
              </a:rPr>
              <a:t>GraphSAGE</a:t>
            </a:r>
            <a:r>
              <a:rPr lang="en-US" sz="1700" dirty="0">
                <a:latin typeface="Times New Roman"/>
                <a:cs typeface="Times New Roman"/>
              </a:rPr>
              <a:t>) and learned edge weights.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47F5-587F-44A7-9EEA-A7425002C744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31941C-C503-4469-8755-454FE606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720"/>
            <a:ext cx="722376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[1] Wasi, A. T., Islam, M. D., &amp; Akib, A. R. (2024). SupplyGraph: A benchmark dataset for supply chain planning using graph neural networks. arXiv:2401.15299.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[2] Wu, B., Chao, K.-M., &amp; Li, Y. (2023). MultiFraud: Heterogeneous graph neural networks for fraud detection and explanation in supply chain finance. Information Systems.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[3] Kosasih, E. E., &amp; Brintrup, A. (2022). A machine learning approach for predicting hidden links in supply chain with graph neural networks. Int. J. Production Research. https://doi.org/10.1080/00207543.2021.1956697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[4] Kosasih, E. E., Margaroli, F., Gelli, S., et al. (2024). Towards knowledge graph reasoning for supply chain risk management using graph neural networks. Int. J. Production Research, 62(15). https://doi.org/10.1080/00207543.2022.2100841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[5] Kosasih, E. E., &amp; Brintrup, A. (2024). Towards trustworthy AI for link prediction in supply chain knowledge graph. Int. J. Production Research, 63(6). https://doi.org/10.1080/00207543.2024.2399713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[6] Zhou, Y., et al. (2023). HKTGNN: Hierarchical knowledge transferable graph neural network-based supply chain risk assessment. arXiv:2311.04244.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[7] Li, X., et al. (2026). TG-RRNet: A supply chain risk perception network integrating temporal modeling and generative anomaly detection. Engineering Reports. https://doi.org/10.1002/eng2.70606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[8] Ying, Z., Bourgeois, D., You, J., Zitnik, M., &amp; Leskovec, J. (2019). GNNExplainer: Generating explanations for graph neural networks. NeurIPS 32.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[9] Kipf, T. N., &amp; Welling, M. (2017). Semi-supervised classification with graph convolutional networks. ICLR.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>
                <a:latin typeface="Times New Roman"/>
                <a:cs typeface="Times New Roman"/>
              </a:rPr>
              <a:t>Full 18-paper list with DOIs: see Literature Survey slides (1–3 of 3).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A843-0624-46E7-8766-2EC696722D9A}" type="datetime1">
              <a:rPr lang="en-IN" smtClean="0"/>
              <a:t>31-10-2026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22C802-FAC0-4996-9438-F4455D72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955279" y="1188720"/>
            <a:ext cx="384048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>
                <a:latin typeface="Times New Roman"/>
                <a:cs typeface="Times New Roman"/>
              </a:rPr>
              <a:t>Datasets and Tools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>
                <a:latin typeface="Times New Roman"/>
                <a:cs typeface="Times New Roman"/>
              </a:rPr>
              <a:t>SupplyGraph dataset (Kaggle): kaggle.com/datasets/azminetoushikwasi/supplygraph-supply-chain-planning-using-gnns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>
                <a:latin typeface="Times New Roman"/>
                <a:cs typeface="Times New Roman"/>
              </a:rPr>
              <a:t>SupplyGraph GitHub repository: github.com/CIOL-SUST/SupplyGraph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>
                <a:latin typeface="Times New Roman"/>
                <a:cs typeface="Times New Roman"/>
              </a:rPr>
              <a:t>PyTorch Geometric: GCN layers and GNNExplainer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>
                <a:latin typeface="Times New Roman"/>
                <a:cs typeface="Times New Roman"/>
              </a:rPr>
              <a:t>PySpark: scalable big-data processing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>
                <a:latin typeface="Times New Roman"/>
                <a:cs typeface="Times New Roman"/>
              </a:rPr>
              <a:t>NetworkX: graph prototyping and sanity checks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>
                <a:latin typeface="Times New Roman"/>
                <a:cs typeface="Times New Roman"/>
              </a:rPr>
              <a:t>scikit-learn and XGBoost: baseline models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DC0BB-3C13-448D-9D63-C3B9E4D61141}" type="datetime1">
              <a:rPr lang="en-IN" smtClean="0"/>
              <a:t>31-10-2026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10A2BD5-B048-435C-9BAE-2FCD9270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PRC-III   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3904</Words>
  <Application>Microsoft Office PowerPoint</Application>
  <PresentationFormat>Widescreen</PresentationFormat>
  <Paragraphs>561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Custom Design</vt:lpstr>
      <vt:lpstr>ENGINEERING CAPSTONE PROJECT – 1 Project Review-3  Explainable Graph Neural Network Framework for Supply Chain Risk Prediction in Multi-Tier Supply Chain Networks using Big Data Processing</vt:lpstr>
      <vt:lpstr>OUTLINE</vt:lpstr>
      <vt:lpstr>Introduction</vt:lpstr>
      <vt:lpstr>Problem Statement</vt:lpstr>
      <vt:lpstr>Objectives </vt:lpstr>
      <vt:lpstr>Literature Survey (1 of 3)</vt:lpstr>
      <vt:lpstr>Literature Survey (2 of 3)</vt:lpstr>
      <vt:lpstr>Literature Survey (3 of 3)</vt:lpstr>
      <vt:lpstr>Research Gap Identification</vt:lpstr>
      <vt:lpstr>Existing Method</vt:lpstr>
      <vt:lpstr>Proposed Method</vt:lpstr>
      <vt:lpstr>System Architecture / Block Diagram</vt:lpstr>
      <vt:lpstr>Results &amp; Discussion (1 of 3): Performance</vt:lpstr>
      <vt:lpstr>Results &amp; Discussion (2 of 3): Graph Analysis</vt:lpstr>
      <vt:lpstr>Results &amp; Discussion (3 of 3): Explainability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Sai Teja</cp:lastModifiedBy>
  <cp:revision>200</cp:revision>
  <cp:lastPrinted>2025-06-24T13:51:00Z</cp:lastPrinted>
  <dcterms:created xsi:type="dcterms:W3CDTF">2022-05-20T10:20:00Z</dcterms:created>
  <dcterms:modified xsi:type="dcterms:W3CDTF">2026-10-31T04:01:00Z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8501A877F9FA4B8DAC5FC0ABD71A7E4E_12</vt:lpwstr>
  </property>
  <property fmtid="{D5CDD505-2E9C-101B-9397-08002B2CF9AE}" pid="3" name="KSOProductBuildVer">
    <vt:lpwstr>1033-12.2.0.23196</vt:lpwstr>
  </property>
</Properties>
</file>